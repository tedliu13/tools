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26"/>
  </p:notesMasterIdLst>
  <p:handoutMasterIdLst>
    <p:handoutMasterId r:id="rId27"/>
  </p:handoutMasterIdLst>
  <p:sldIdLst>
    <p:sldId id="261" r:id="rId2"/>
    <p:sldId id="10248" r:id="rId3"/>
    <p:sldId id="10249" r:id="rId4"/>
    <p:sldId id="10250" r:id="rId5"/>
    <p:sldId id="10251" r:id="rId6"/>
    <p:sldId id="10252" r:id="rId7"/>
    <p:sldId id="10253" r:id="rId8"/>
    <p:sldId id="10254" r:id="rId9"/>
    <p:sldId id="10255" r:id="rId10"/>
    <p:sldId id="10256" r:id="rId11"/>
    <p:sldId id="10257" r:id="rId12"/>
    <p:sldId id="10261" r:id="rId13"/>
    <p:sldId id="10258" r:id="rId14"/>
    <p:sldId id="10259" r:id="rId15"/>
    <p:sldId id="10267" r:id="rId16"/>
    <p:sldId id="10269" r:id="rId17"/>
    <p:sldId id="10260" r:id="rId18"/>
    <p:sldId id="10262" r:id="rId19"/>
    <p:sldId id="10263" r:id="rId20"/>
    <p:sldId id="10264" r:id="rId21"/>
    <p:sldId id="10265" r:id="rId22"/>
    <p:sldId id="10266" r:id="rId23"/>
    <p:sldId id="10268" r:id="rId24"/>
    <p:sldId id="10243" r:id="rId25"/>
  </p:sldIdLst>
  <p:sldSz cx="12192000" cy="6858000"/>
  <p:notesSz cx="6797675" cy="9928225"/>
  <p:defaultTextStyle>
    <a:defPPr>
      <a:defRPr lang="zh-TW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990000"/>
    <a:srgbClr val="D9FCFE"/>
    <a:srgbClr val="61CED5"/>
    <a:srgbClr val="CC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34381-B056-42AF-A973-6C0078DE0BE4}" v="5" dt="2025-07-01T01:31:11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/>
    <p:restoredTop sz="94601"/>
  </p:normalViewPr>
  <p:slideViewPr>
    <p:cSldViewPr>
      <p:cViewPr varScale="1">
        <p:scale>
          <a:sx n="104" d="100"/>
          <a:sy n="104" d="100"/>
        </p:scale>
        <p:origin x="72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d Liu" userId="dede7825ba6c0317" providerId="LiveId" clId="{35034381-B056-42AF-A973-6C0078DE0BE4}"/>
    <pc:docChg chg="undo custSel delSld modSld">
      <pc:chgData name="Ted Liu" userId="dede7825ba6c0317" providerId="LiveId" clId="{35034381-B056-42AF-A973-6C0078DE0BE4}" dt="2025-07-01T01:31:28.938" v="36" actId="113"/>
      <pc:docMkLst>
        <pc:docMk/>
      </pc:docMkLst>
      <pc:sldChg chg="addSp delSp modSp mod">
        <pc:chgData name="Ted Liu" userId="dede7825ba6c0317" providerId="LiveId" clId="{35034381-B056-42AF-A973-6C0078DE0BE4}" dt="2025-07-01T01:29:47.102" v="4" actId="1076"/>
        <pc:sldMkLst>
          <pc:docMk/>
          <pc:sldMk cId="2937066218" sldId="261"/>
        </pc:sldMkLst>
        <pc:picChg chg="add mod">
          <ac:chgData name="Ted Liu" userId="dede7825ba6c0317" providerId="LiveId" clId="{35034381-B056-42AF-A973-6C0078DE0BE4}" dt="2025-07-01T01:29:47.102" v="4" actId="1076"/>
          <ac:picMkLst>
            <pc:docMk/>
            <pc:sldMk cId="2937066218" sldId="261"/>
            <ac:picMk id="2" creationId="{78F8F0A6-7DD6-F85E-010F-0BCD982D5D31}"/>
          </ac:picMkLst>
        </pc:picChg>
        <pc:picChg chg="del">
          <ac:chgData name="Ted Liu" userId="dede7825ba6c0317" providerId="LiveId" clId="{35034381-B056-42AF-A973-6C0078DE0BE4}" dt="2025-07-01T01:29:40.266" v="0" actId="478"/>
          <ac:picMkLst>
            <pc:docMk/>
            <pc:sldMk cId="2937066218" sldId="261"/>
            <ac:picMk id="7" creationId="{70E9FF81-31B3-869D-D04E-7B1504522D51}"/>
          </ac:picMkLst>
        </pc:picChg>
      </pc:sldChg>
      <pc:sldChg chg="del">
        <pc:chgData name="Ted Liu" userId="dede7825ba6c0317" providerId="LiveId" clId="{35034381-B056-42AF-A973-6C0078DE0BE4}" dt="2025-07-01T01:30:24.423" v="8" actId="47"/>
        <pc:sldMkLst>
          <pc:docMk/>
          <pc:sldMk cId="1786660944" sldId="10247"/>
        </pc:sldMkLst>
      </pc:sldChg>
      <pc:sldChg chg="addSp delSp modSp mod">
        <pc:chgData name="Ted Liu" userId="dede7825ba6c0317" providerId="LiveId" clId="{35034381-B056-42AF-A973-6C0078DE0BE4}" dt="2025-07-01T01:30:03.248" v="7" actId="167"/>
        <pc:sldMkLst>
          <pc:docMk/>
          <pc:sldMk cId="186056595" sldId="10252"/>
        </pc:sldMkLst>
        <pc:picChg chg="add mod ord">
          <ac:chgData name="Ted Liu" userId="dede7825ba6c0317" providerId="LiveId" clId="{35034381-B056-42AF-A973-6C0078DE0BE4}" dt="2025-07-01T01:30:03.248" v="7" actId="167"/>
          <ac:picMkLst>
            <pc:docMk/>
            <pc:sldMk cId="186056595" sldId="10252"/>
            <ac:picMk id="5" creationId="{1CDEDF8C-7FDF-6A24-C684-C307AFA7C20B}"/>
          </ac:picMkLst>
        </pc:picChg>
        <pc:picChg chg="del">
          <ac:chgData name="Ted Liu" userId="dede7825ba6c0317" providerId="LiveId" clId="{35034381-B056-42AF-A973-6C0078DE0BE4}" dt="2025-07-01T01:30:00.109" v="5" actId="478"/>
          <ac:picMkLst>
            <pc:docMk/>
            <pc:sldMk cId="186056595" sldId="10252"/>
            <ac:picMk id="6" creationId="{4A4EB058-4031-A76B-7192-E0518B5BB6CB}"/>
          </ac:picMkLst>
        </pc:picChg>
      </pc:sldChg>
      <pc:sldChg chg="modSp mod">
        <pc:chgData name="Ted Liu" userId="dede7825ba6c0317" providerId="LiveId" clId="{35034381-B056-42AF-A973-6C0078DE0BE4}" dt="2025-07-01T01:31:28.938" v="36" actId="113"/>
        <pc:sldMkLst>
          <pc:docMk/>
          <pc:sldMk cId="2237507239" sldId="10258"/>
        </pc:sldMkLst>
        <pc:spChg chg="mod">
          <ac:chgData name="Ted Liu" userId="dede7825ba6c0317" providerId="LiveId" clId="{35034381-B056-42AF-A973-6C0078DE0BE4}" dt="2025-07-01T01:30:34.896" v="21" actId="20577"/>
          <ac:spMkLst>
            <pc:docMk/>
            <pc:sldMk cId="2237507239" sldId="10258"/>
            <ac:spMk id="2" creationId="{6FFB2CF1-60B9-F62E-6908-8833266E2F69}"/>
          </ac:spMkLst>
        </pc:spChg>
        <pc:spChg chg="mod">
          <ac:chgData name="Ted Liu" userId="dede7825ba6c0317" providerId="LiveId" clId="{35034381-B056-42AF-A973-6C0078DE0BE4}" dt="2025-07-01T01:31:28.938" v="36" actId="113"/>
          <ac:spMkLst>
            <pc:docMk/>
            <pc:sldMk cId="2237507239" sldId="10258"/>
            <ac:spMk id="3" creationId="{ABF69165-791A-BE0B-8EE7-2AF023FC2457}"/>
          </ac:spMkLst>
        </pc:spChg>
      </pc:sldChg>
      <pc:sldChg chg="modSp mod">
        <pc:chgData name="Ted Liu" userId="dede7825ba6c0317" providerId="LiveId" clId="{35034381-B056-42AF-A973-6C0078DE0BE4}" dt="2025-07-01T01:30:30.307" v="16" actId="20577"/>
        <pc:sldMkLst>
          <pc:docMk/>
          <pc:sldMk cId="1162628716" sldId="10261"/>
        </pc:sldMkLst>
        <pc:spChg chg="mod">
          <ac:chgData name="Ted Liu" userId="dede7825ba6c0317" providerId="LiveId" clId="{35034381-B056-42AF-A973-6C0078DE0BE4}" dt="2025-07-01T01:30:30.307" v="16" actId="20577"/>
          <ac:spMkLst>
            <pc:docMk/>
            <pc:sldMk cId="1162628716" sldId="10261"/>
            <ac:spMk id="2" creationId="{1BF85980-F1CD-F1C5-C6FA-FB0FA62C992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E3A2CA-FAD9-C547-99E7-BB571B304F95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CC164B9-B4D5-8A4E-9938-2A42CAF33064}">
      <dgm:prSet phldrT="[文字]"/>
      <dgm:spPr/>
      <dgm:t>
        <a:bodyPr/>
        <a:lstStyle/>
        <a:p>
          <a:r>
            <a:rPr lang="zh-TW" altLang="en-US"/>
            <a:t>從輸出目錄或執行狀態視窗確認中斷之模式情境</a:t>
          </a:r>
        </a:p>
      </dgm:t>
    </dgm:pt>
    <dgm:pt modelId="{581E288E-EC7F-4040-89F5-E1DA9596B7B5}" type="parTrans" cxnId="{D8ABA374-58F2-8440-A242-7EA7E6824045}">
      <dgm:prSet/>
      <dgm:spPr/>
      <dgm:t>
        <a:bodyPr/>
        <a:lstStyle/>
        <a:p>
          <a:endParaRPr lang="zh-TW" altLang="en-US"/>
        </a:p>
      </dgm:t>
    </dgm:pt>
    <dgm:pt modelId="{36DD3E1D-BA6A-F343-9C91-AF720A0DA3B5}" type="sibTrans" cxnId="{D8ABA374-58F2-8440-A242-7EA7E6824045}">
      <dgm:prSet/>
      <dgm:spPr/>
      <dgm:t>
        <a:bodyPr/>
        <a:lstStyle/>
        <a:p>
          <a:endParaRPr lang="zh-TW" altLang="en-US"/>
        </a:p>
      </dgm:t>
    </dgm:pt>
    <dgm:pt modelId="{1CFC591E-0398-3049-A003-27F3A993B28E}">
      <dgm:prSet phldrT="[文字]"/>
      <dgm:spPr/>
      <dgm:t>
        <a:bodyPr/>
        <a:lstStyle/>
        <a:p>
          <a:r>
            <a:rPr lang="zh-TW" altLang="en-US" dirty="0"/>
            <a:t>備份“</a:t>
          </a:r>
          <a:r>
            <a:rPr lang="en" altLang="en-US" dirty="0"/>
            <a:t>GWL-models-</a:t>
          </a:r>
          <a:r>
            <a:rPr lang="en" altLang="en-US" dirty="0" err="1"/>
            <a:t>變數.csv”後修改此檔案</a:t>
          </a:r>
          <a:endParaRPr lang="zh-TW" altLang="en-US" dirty="0"/>
        </a:p>
      </dgm:t>
    </dgm:pt>
    <dgm:pt modelId="{0D551B95-3A6F-CF48-AC4A-C11FFFFAF8B6}" type="parTrans" cxnId="{9F7051F2-5EFE-9041-AD82-5712A4D57F95}">
      <dgm:prSet/>
      <dgm:spPr/>
      <dgm:t>
        <a:bodyPr/>
        <a:lstStyle/>
        <a:p>
          <a:endParaRPr lang="zh-TW" altLang="en-US"/>
        </a:p>
      </dgm:t>
    </dgm:pt>
    <dgm:pt modelId="{961A78BF-FA09-FF46-9C4F-A07F9AFD6926}" type="sibTrans" cxnId="{9F7051F2-5EFE-9041-AD82-5712A4D57F95}">
      <dgm:prSet/>
      <dgm:spPr/>
      <dgm:t>
        <a:bodyPr/>
        <a:lstStyle/>
        <a:p>
          <a:endParaRPr lang="zh-TW" altLang="en-US"/>
        </a:p>
      </dgm:t>
    </dgm:pt>
    <dgm:pt modelId="{6F2CDED7-4A01-7C44-8F19-0BC97A69FE4D}">
      <dgm:prSet phldrT="[文字]"/>
      <dgm:spPr/>
      <dgm:t>
        <a:bodyPr/>
        <a:lstStyle/>
        <a:p>
          <a:r>
            <a:rPr lang="zh-TW" altLang="en-US" dirty="0"/>
            <a:t>刪除已完成的模式情境即可</a:t>
          </a:r>
        </a:p>
      </dgm:t>
    </dgm:pt>
    <dgm:pt modelId="{51C2D80A-B630-0340-ACEC-2BF22C5F0E01}" type="parTrans" cxnId="{E36BBBE2-36D0-C648-A5E2-310E52773A53}">
      <dgm:prSet/>
      <dgm:spPr/>
      <dgm:t>
        <a:bodyPr/>
        <a:lstStyle/>
        <a:p>
          <a:endParaRPr lang="zh-TW" altLang="en-US"/>
        </a:p>
      </dgm:t>
    </dgm:pt>
    <dgm:pt modelId="{CCD07251-7A9A-3743-9845-8D685E4FC93E}" type="sibTrans" cxnId="{E36BBBE2-36D0-C648-A5E2-310E52773A53}">
      <dgm:prSet/>
      <dgm:spPr/>
      <dgm:t>
        <a:bodyPr/>
        <a:lstStyle/>
        <a:p>
          <a:endParaRPr lang="zh-TW" altLang="en-US"/>
        </a:p>
      </dgm:t>
    </dgm:pt>
    <dgm:pt modelId="{EFCE07C5-6F93-8A4B-88B6-EF8370EABA20}" type="pres">
      <dgm:prSet presAssocID="{BEE3A2CA-FAD9-C547-99E7-BB571B304F95}" presName="Name0" presStyleCnt="0">
        <dgm:presLayoutVars>
          <dgm:dir/>
          <dgm:animLvl val="lvl"/>
          <dgm:resizeHandles val="exact"/>
        </dgm:presLayoutVars>
      </dgm:prSet>
      <dgm:spPr/>
    </dgm:pt>
    <dgm:pt modelId="{7C0C0B32-AA7D-BB45-AC05-0C4B7482F226}" type="pres">
      <dgm:prSet presAssocID="{ACC164B9-B4D5-8A4E-9938-2A42CAF3306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41548CF-E4A7-8749-B854-E1ECBDB579DA}" type="pres">
      <dgm:prSet presAssocID="{36DD3E1D-BA6A-F343-9C91-AF720A0DA3B5}" presName="parTxOnlySpace" presStyleCnt="0"/>
      <dgm:spPr/>
    </dgm:pt>
    <dgm:pt modelId="{905F0BC0-A5FA-8240-967A-5C0FA1B66456}" type="pres">
      <dgm:prSet presAssocID="{1CFC591E-0398-3049-A003-27F3A993B28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36DDE19-1031-244E-B819-EE2BAEC59626}" type="pres">
      <dgm:prSet presAssocID="{961A78BF-FA09-FF46-9C4F-A07F9AFD6926}" presName="parTxOnlySpace" presStyleCnt="0"/>
      <dgm:spPr/>
    </dgm:pt>
    <dgm:pt modelId="{0FAE5AD5-03C1-FA42-B309-2B43A2802E80}" type="pres">
      <dgm:prSet presAssocID="{6F2CDED7-4A01-7C44-8F19-0BC97A69FE4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4EDE525-435D-FE42-9E05-74480061BAF9}" type="presOf" srcId="{ACC164B9-B4D5-8A4E-9938-2A42CAF33064}" destId="{7C0C0B32-AA7D-BB45-AC05-0C4B7482F226}" srcOrd="0" destOrd="0" presId="urn:microsoft.com/office/officeart/2005/8/layout/chevron1"/>
    <dgm:cxn modelId="{E0BAEA66-351D-7445-B916-B70A9F7EBA01}" type="presOf" srcId="{1CFC591E-0398-3049-A003-27F3A993B28E}" destId="{905F0BC0-A5FA-8240-967A-5C0FA1B66456}" srcOrd="0" destOrd="0" presId="urn:microsoft.com/office/officeart/2005/8/layout/chevron1"/>
    <dgm:cxn modelId="{D8ABA374-58F2-8440-A242-7EA7E6824045}" srcId="{BEE3A2CA-FAD9-C547-99E7-BB571B304F95}" destId="{ACC164B9-B4D5-8A4E-9938-2A42CAF33064}" srcOrd="0" destOrd="0" parTransId="{581E288E-EC7F-4040-89F5-E1DA9596B7B5}" sibTransId="{36DD3E1D-BA6A-F343-9C91-AF720A0DA3B5}"/>
    <dgm:cxn modelId="{6DE99276-88AF-374F-B69F-4F80B0CDCBF3}" type="presOf" srcId="{BEE3A2CA-FAD9-C547-99E7-BB571B304F95}" destId="{EFCE07C5-6F93-8A4B-88B6-EF8370EABA20}" srcOrd="0" destOrd="0" presId="urn:microsoft.com/office/officeart/2005/8/layout/chevron1"/>
    <dgm:cxn modelId="{01A66882-CE13-EF48-9A1E-030A91D6E36D}" type="presOf" srcId="{6F2CDED7-4A01-7C44-8F19-0BC97A69FE4D}" destId="{0FAE5AD5-03C1-FA42-B309-2B43A2802E80}" srcOrd="0" destOrd="0" presId="urn:microsoft.com/office/officeart/2005/8/layout/chevron1"/>
    <dgm:cxn modelId="{E36BBBE2-36D0-C648-A5E2-310E52773A53}" srcId="{BEE3A2CA-FAD9-C547-99E7-BB571B304F95}" destId="{6F2CDED7-4A01-7C44-8F19-0BC97A69FE4D}" srcOrd="2" destOrd="0" parTransId="{51C2D80A-B630-0340-ACEC-2BF22C5F0E01}" sibTransId="{CCD07251-7A9A-3743-9845-8D685E4FC93E}"/>
    <dgm:cxn modelId="{9F7051F2-5EFE-9041-AD82-5712A4D57F95}" srcId="{BEE3A2CA-FAD9-C547-99E7-BB571B304F95}" destId="{1CFC591E-0398-3049-A003-27F3A993B28E}" srcOrd="1" destOrd="0" parTransId="{0D551B95-3A6F-CF48-AC4A-C11FFFFAF8B6}" sibTransId="{961A78BF-FA09-FF46-9C4F-A07F9AFD6926}"/>
    <dgm:cxn modelId="{9C3654F8-BA0D-7542-8D67-C87032DA9515}" type="presParOf" srcId="{EFCE07C5-6F93-8A4B-88B6-EF8370EABA20}" destId="{7C0C0B32-AA7D-BB45-AC05-0C4B7482F226}" srcOrd="0" destOrd="0" presId="urn:microsoft.com/office/officeart/2005/8/layout/chevron1"/>
    <dgm:cxn modelId="{2E69AC88-5F4F-E949-A167-3F3D0BAD6892}" type="presParOf" srcId="{EFCE07C5-6F93-8A4B-88B6-EF8370EABA20}" destId="{141548CF-E4A7-8749-B854-E1ECBDB579DA}" srcOrd="1" destOrd="0" presId="urn:microsoft.com/office/officeart/2005/8/layout/chevron1"/>
    <dgm:cxn modelId="{7A41849E-3553-A744-973C-E7A9BF1EACE5}" type="presParOf" srcId="{EFCE07C5-6F93-8A4B-88B6-EF8370EABA20}" destId="{905F0BC0-A5FA-8240-967A-5C0FA1B66456}" srcOrd="2" destOrd="0" presId="urn:microsoft.com/office/officeart/2005/8/layout/chevron1"/>
    <dgm:cxn modelId="{9CC884CB-90A8-EB43-8635-CD08AEB2F270}" type="presParOf" srcId="{EFCE07C5-6F93-8A4B-88B6-EF8370EABA20}" destId="{636DDE19-1031-244E-B819-EE2BAEC59626}" srcOrd="3" destOrd="0" presId="urn:microsoft.com/office/officeart/2005/8/layout/chevron1"/>
    <dgm:cxn modelId="{4D6C81E0-06CE-4344-8620-ED1444C2E895}" type="presParOf" srcId="{EFCE07C5-6F93-8A4B-88B6-EF8370EABA20}" destId="{0FAE5AD5-03C1-FA42-B309-2B43A2802E8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C0B32-AA7D-BB45-AC05-0C4B7482F226}">
      <dsp:nvSpPr>
        <dsp:cNvPr id="0" name=""/>
        <dsp:cNvSpPr/>
      </dsp:nvSpPr>
      <dsp:spPr>
        <a:xfrm>
          <a:off x="3214" y="80386"/>
          <a:ext cx="3916560" cy="15666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200" kern="1200"/>
            <a:t>從輸出目錄或執行狀態視窗確認中斷之模式情境</a:t>
          </a:r>
        </a:p>
      </dsp:txBody>
      <dsp:txXfrm>
        <a:off x="786526" y="80386"/>
        <a:ext cx="2349936" cy="1566624"/>
      </dsp:txXfrm>
    </dsp:sp>
    <dsp:sp modelId="{905F0BC0-A5FA-8240-967A-5C0FA1B66456}">
      <dsp:nvSpPr>
        <dsp:cNvPr id="0" name=""/>
        <dsp:cNvSpPr/>
      </dsp:nvSpPr>
      <dsp:spPr>
        <a:xfrm>
          <a:off x="3528119" y="80386"/>
          <a:ext cx="3916560" cy="15666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200" kern="1200" dirty="0"/>
            <a:t>備份“</a:t>
          </a:r>
          <a:r>
            <a:rPr lang="en" altLang="en-US" sz="2200" kern="1200" dirty="0"/>
            <a:t>GWL-models-</a:t>
          </a:r>
          <a:r>
            <a:rPr lang="en" altLang="en-US" sz="2200" kern="1200" dirty="0" err="1"/>
            <a:t>變數.csv”後修改此檔案</a:t>
          </a:r>
          <a:endParaRPr lang="zh-TW" altLang="en-US" sz="2200" kern="1200" dirty="0"/>
        </a:p>
      </dsp:txBody>
      <dsp:txXfrm>
        <a:off x="4311431" y="80386"/>
        <a:ext cx="2349936" cy="1566624"/>
      </dsp:txXfrm>
    </dsp:sp>
    <dsp:sp modelId="{0FAE5AD5-03C1-FA42-B309-2B43A2802E80}">
      <dsp:nvSpPr>
        <dsp:cNvPr id="0" name=""/>
        <dsp:cNvSpPr/>
      </dsp:nvSpPr>
      <dsp:spPr>
        <a:xfrm>
          <a:off x="7053024" y="80386"/>
          <a:ext cx="3916560" cy="15666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200" kern="1200" dirty="0"/>
            <a:t>刪除已完成的模式情境即可</a:t>
          </a:r>
        </a:p>
      </dsp:txBody>
      <dsp:txXfrm>
        <a:off x="7836336" y="80386"/>
        <a:ext cx="2349936" cy="1566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13848-C94C-41D8-9502-90D514E5A71E}" type="datetimeFigureOut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16ECD-E06E-469D-8555-75C6867313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169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403A3-45BE-4B23-97CA-B22F9046DE4E}" type="datetimeFigureOut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C8677-510F-4162-9422-8EF32B616F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789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400" b="1">
                <a:solidFill>
                  <a:srgbClr val="000099"/>
                </a:solidFill>
              </a:defRPr>
            </a:lvl1pPr>
          </a:lstStyle>
          <a:p>
            <a:r>
              <a:rPr lang="zh-TW" altLang="en-US" dirty="0"/>
              <a:t>封面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10632504" y="6356351"/>
            <a:ext cx="1380637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C8FCFA99-C792-E44D-9ECC-17C83CFC8627}" type="datetime1">
              <a:rPr lang="zh-TW" altLang="en-US" smtClean="0"/>
              <a:t>2025/7/1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239349" y="6356351"/>
            <a:ext cx="28448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4AF5695-61C0-421F-8D81-2C672CA3459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852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1385" y="260648"/>
            <a:ext cx="9937104" cy="466063"/>
          </a:xfrm>
        </p:spPr>
        <p:txBody>
          <a:bodyPr/>
          <a:lstStyle>
            <a:lvl1pPr>
              <a:defRPr sz="3600" b="1">
                <a:solidFill>
                  <a:srgbClr val="000099"/>
                </a:solidFill>
              </a:defRPr>
            </a:lvl1pPr>
          </a:lstStyle>
          <a:p>
            <a:r>
              <a:rPr lang="zh-TW" altLang="en-US" dirty="0"/>
              <a:t>有飾線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001420"/>
          </a:xfrm>
        </p:spPr>
        <p:txBody>
          <a:bodyPr/>
          <a:lstStyle>
            <a:lvl1pPr marL="457189" indent="-457189">
              <a:buClr>
                <a:srgbClr val="C00000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</a:defRPr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91EA-2D34-6943-89F0-BABF77928F45}" type="datetime1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53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 b="1">
                <a:solidFill>
                  <a:srgbClr val="000099"/>
                </a:solidFill>
              </a:defRPr>
            </a:lvl1pPr>
          </a:lstStyle>
          <a:p>
            <a:r>
              <a:rPr lang="zh-TW" altLang="en-US" dirty="0"/>
              <a:t>有飾線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C5264646-F2AC-CF47-BC20-C5B953C3DCAD}" type="datetime1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4AF5695-61C0-421F-8D81-2C672CA3459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81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0A2A-38BC-3440-9169-D6FDD5E451B9}" type="datetime1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548" y="0"/>
            <a:ext cx="3432091" cy="190373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/>
          <a:srcRect t="1" b="15417"/>
          <a:stretch/>
        </p:blipFill>
        <p:spPr>
          <a:xfrm>
            <a:off x="10920536" y="243889"/>
            <a:ext cx="780288" cy="47541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3"/>
          <a:srcRect t="86990"/>
          <a:stretch/>
        </p:blipFill>
        <p:spPr>
          <a:xfrm>
            <a:off x="10704512" y="741696"/>
            <a:ext cx="1212336" cy="11361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無飾線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25C03D1-A9E1-248F-42B7-4DFA21F8F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8548" y="0"/>
            <a:ext cx="3432091" cy="19037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E918F42-5F46-2873-0213-29F82B99A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" b="15417"/>
          <a:stretch/>
        </p:blipFill>
        <p:spPr>
          <a:xfrm>
            <a:off x="10920536" y="243889"/>
            <a:ext cx="780288" cy="47541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7ACA3FF-03DC-003B-5A62-C0D0481EC0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86990"/>
          <a:stretch/>
        </p:blipFill>
        <p:spPr>
          <a:xfrm>
            <a:off x="10704512" y="741696"/>
            <a:ext cx="1212336" cy="11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559EA-447F-8D4B-AB43-C6B67674EB90}" type="datetime1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548" y="0"/>
            <a:ext cx="3432091" cy="190373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/>
          <a:srcRect t="1" b="15417"/>
          <a:stretch/>
        </p:blipFill>
        <p:spPr>
          <a:xfrm>
            <a:off x="10920536" y="243889"/>
            <a:ext cx="780288" cy="47541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3"/>
          <a:srcRect t="86990"/>
          <a:stretch/>
        </p:blipFill>
        <p:spPr>
          <a:xfrm>
            <a:off x="10704512" y="741696"/>
            <a:ext cx="1212336" cy="113613"/>
          </a:xfrm>
          <a:prstGeom prst="rect">
            <a:avLst/>
          </a:prstGeom>
        </p:spPr>
      </p:pic>
      <p:sp>
        <p:nvSpPr>
          <p:cNvPr id="7" name="標題 7">
            <a:extLst>
              <a:ext uri="{FF2B5EF4-FFF2-40B4-BE49-F238E27FC236}">
                <a16:creationId xmlns:a16="http://schemas.microsoft.com/office/drawing/2014/main" id="{1AFA3034-7A53-5956-EF97-2A7DF78BF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2348880"/>
            <a:ext cx="10369152" cy="1584176"/>
          </a:xfrm>
          <a:solidFill>
            <a:srgbClr val="2F94B3"/>
          </a:solidFill>
        </p:spPr>
        <p:txBody>
          <a:bodyPr anchor="ctr">
            <a:normAutofit/>
          </a:bodyPr>
          <a:lstStyle>
            <a:lvl1pPr algn="ctr">
              <a:defRPr lang="zh-TW" altLang="en-US" sz="4000" b="1" kern="1200" cap="all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文字版面配置區 10">
            <a:extLst>
              <a:ext uri="{FF2B5EF4-FFF2-40B4-BE49-F238E27FC236}">
                <a16:creationId xmlns:a16="http://schemas.microsoft.com/office/drawing/2014/main" id="{65CD1FEA-E5E7-E13F-8106-F14CAA00CD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424" y="4077073"/>
            <a:ext cx="10369152" cy="136842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0709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400" b="1">
                <a:solidFill>
                  <a:srgbClr val="000099"/>
                </a:solidFill>
              </a:defRPr>
            </a:lvl1pPr>
          </a:lstStyle>
          <a:p>
            <a:r>
              <a:rPr lang="zh-TW" altLang="en-US" dirty="0"/>
              <a:t>封面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10704512" y="6356351"/>
            <a:ext cx="1308629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884BE07A-B421-5741-A13D-2EE300E598DB}" type="datetime1">
              <a:rPr lang="zh-TW" altLang="en-US" smtClean="0"/>
              <a:t>2025/7/1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239349" y="6356351"/>
            <a:ext cx="28448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4AF5695-61C0-421F-8D81-2C672CA3459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475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284B-F0E4-BF43-BE13-E33933468827}" type="datetime1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8548" y="0"/>
            <a:ext cx="3432091" cy="190373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 userDrawn="1"/>
        </p:nvPicPr>
        <p:blipFill rotWithShape="1">
          <a:blip r:embed="rId3"/>
          <a:srcRect t="1" b="15417"/>
          <a:stretch/>
        </p:blipFill>
        <p:spPr>
          <a:xfrm>
            <a:off x="10920536" y="243889"/>
            <a:ext cx="780288" cy="47541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 rotWithShape="1">
          <a:blip r:embed="rId3"/>
          <a:srcRect t="86990"/>
          <a:stretch/>
        </p:blipFill>
        <p:spPr>
          <a:xfrm>
            <a:off x="10704512" y="741696"/>
            <a:ext cx="1212336" cy="11361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無飾線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</p:spTree>
    <p:extLst>
      <p:ext uri="{BB962C8B-B14F-4D97-AF65-F5344CB8AC3E}">
        <p14:creationId xmlns:p14="http://schemas.microsoft.com/office/powerpoint/2010/main" val="204805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一般主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902996"/>
            <a:ext cx="11055019" cy="5425853"/>
          </a:xfrm>
        </p:spPr>
        <p:txBody>
          <a:bodyPr>
            <a:normAutofit/>
          </a:bodyPr>
          <a:lstStyle>
            <a:lvl1pPr marL="342891" indent="-342891">
              <a:buFont typeface="Wingdings" pitchFamily="2" charset="2"/>
              <a:buChar char="Ø"/>
              <a:defRPr sz="3200" b="1">
                <a:solidFill>
                  <a:schemeClr val="accent3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32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4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cxnSp>
        <p:nvCxnSpPr>
          <p:cNvPr id="7" name="直線接點 6"/>
          <p:cNvCxnSpPr/>
          <p:nvPr/>
        </p:nvCxnSpPr>
        <p:spPr>
          <a:xfrm>
            <a:off x="336000" y="833982"/>
            <a:ext cx="11520000" cy="10675"/>
          </a:xfrm>
          <a:prstGeom prst="line">
            <a:avLst/>
          </a:prstGeom>
          <a:ln w="19050">
            <a:solidFill>
              <a:srgbClr val="2376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53019" y="6378000"/>
            <a:ext cx="640000" cy="4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/>
          <a:lstStyle>
            <a:lvl1pPr algn="ctr">
              <a:lnSpc>
                <a:spcPts val="2400"/>
              </a:lnSpc>
              <a:spcBef>
                <a:spcPts val="0"/>
              </a:spcBef>
              <a:defRPr sz="1200">
                <a:solidFill>
                  <a:srgbClr val="1E73AA"/>
                </a:solidFill>
              </a:defRPr>
            </a:lvl1pPr>
          </a:lstStyle>
          <a:p>
            <a:fld id="{9CA79285-2559-43A9-ADC9-E4273441005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36000" y="6776990"/>
            <a:ext cx="11520000" cy="10675"/>
          </a:xfrm>
          <a:prstGeom prst="line">
            <a:avLst/>
          </a:prstGeom>
          <a:ln w="19050">
            <a:solidFill>
              <a:srgbClr val="2376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876000" y="69102"/>
            <a:ext cx="10440000" cy="719947"/>
          </a:xfrm>
        </p:spPr>
        <p:txBody>
          <a:bodyPr>
            <a:normAutofit/>
          </a:bodyPr>
          <a:lstStyle>
            <a:lvl1pPr algn="ctr">
              <a:defRPr sz="4000" b="1">
                <a:solidFill>
                  <a:srgbClr val="1E73AA"/>
                </a:solidFill>
                <a:latin typeface="+mj-ea"/>
                <a:ea typeface="+mj-ea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4" name="Picture 2" descr="https://tccip.ncdr.nat.gov.tw/img/footer/tccip.png">
            <a:extLst>
              <a:ext uri="{FF2B5EF4-FFF2-40B4-BE49-F238E27FC236}">
                <a16:creationId xmlns:a16="http://schemas.microsoft.com/office/drawing/2014/main" id="{8C43C2C0-C79B-4892-922D-C6CCA23389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83"/>
          <a:stretch/>
        </p:blipFill>
        <p:spPr bwMode="auto">
          <a:xfrm>
            <a:off x="336000" y="6480331"/>
            <a:ext cx="777600" cy="2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50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000" cy="13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000" cy="3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623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一般主題_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09600" y="902996"/>
            <a:ext cx="11055019" cy="5425853"/>
          </a:xfrm>
        </p:spPr>
        <p:txBody>
          <a:bodyPr>
            <a:normAutofit/>
          </a:bodyPr>
          <a:lstStyle>
            <a:lvl1pPr>
              <a:buFont typeface="Wingdings" pitchFamily="2" charset="2"/>
              <a:buChar char="n"/>
              <a:defRPr sz="3200" b="1">
                <a:solidFill>
                  <a:schemeClr val="accent3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第一層是我</a:t>
            </a:r>
            <a:r>
              <a:rPr lang="en-US" altLang="zh-TW" dirty="0"/>
              <a:t>(32</a:t>
            </a:r>
            <a:r>
              <a:rPr lang="zh-TW" altLang="en-US" dirty="0"/>
              <a:t>字級、粗體</a:t>
            </a:r>
            <a:r>
              <a:rPr lang="en-US" altLang="zh-TW" dirty="0"/>
              <a:t>)</a:t>
            </a:r>
            <a:endParaRPr lang="zh-TW" altLang="en-US" dirty="0"/>
          </a:p>
          <a:p>
            <a:pPr lvl="1"/>
            <a:r>
              <a:rPr lang="zh-TW" altLang="en-US" dirty="0"/>
              <a:t>第二層是我</a:t>
            </a:r>
            <a:r>
              <a:rPr lang="en-US" altLang="zh-TW" dirty="0"/>
              <a:t>(32</a:t>
            </a:r>
            <a:r>
              <a:rPr lang="zh-TW" altLang="en-US" dirty="0"/>
              <a:t>字級</a:t>
            </a:r>
            <a:r>
              <a:rPr lang="en-US" altLang="zh-TW" dirty="0"/>
              <a:t>)</a:t>
            </a:r>
            <a:endParaRPr lang="zh-TW" altLang="en-US" dirty="0"/>
          </a:p>
          <a:p>
            <a:pPr lvl="2"/>
            <a:r>
              <a:rPr lang="zh-TW" altLang="en-US" dirty="0"/>
              <a:t>第三層是我</a:t>
            </a:r>
            <a:r>
              <a:rPr lang="en-US" altLang="zh-TW" dirty="0"/>
              <a:t>(24</a:t>
            </a:r>
            <a:r>
              <a:rPr lang="zh-TW" altLang="en-US" dirty="0"/>
              <a:t>字級</a:t>
            </a:r>
            <a:r>
              <a:rPr lang="en-US" altLang="zh-TW" dirty="0"/>
              <a:t>)</a:t>
            </a:r>
            <a:endParaRPr lang="zh-TW" altLang="en-US" dirty="0"/>
          </a:p>
          <a:p>
            <a:pPr lvl="3"/>
            <a:r>
              <a:rPr lang="zh-TW" altLang="en-US" dirty="0"/>
              <a:t>第四層是我</a:t>
            </a:r>
            <a:r>
              <a:rPr lang="en-US" altLang="zh-TW" dirty="0"/>
              <a:t>(18</a:t>
            </a:r>
            <a:r>
              <a:rPr lang="zh-TW" altLang="en-US" dirty="0"/>
              <a:t>字級</a:t>
            </a:r>
            <a:r>
              <a:rPr lang="en-US" altLang="zh-TW" dirty="0"/>
              <a:t>)</a:t>
            </a:r>
            <a:endParaRPr lang="zh-TW" altLang="en-US" dirty="0"/>
          </a:p>
          <a:p>
            <a:pPr lvl="4"/>
            <a:r>
              <a:rPr lang="zh-TW" altLang="en-US" dirty="0"/>
              <a:t>第五層是我</a:t>
            </a:r>
            <a:r>
              <a:rPr lang="en-US" altLang="zh-TW" dirty="0"/>
              <a:t>(16</a:t>
            </a:r>
            <a:r>
              <a:rPr lang="zh-TW" altLang="en-US" dirty="0"/>
              <a:t>字級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7" name="直線接點 6"/>
          <p:cNvCxnSpPr/>
          <p:nvPr/>
        </p:nvCxnSpPr>
        <p:spPr>
          <a:xfrm>
            <a:off x="336000" y="833982"/>
            <a:ext cx="11520000" cy="10675"/>
          </a:xfrm>
          <a:prstGeom prst="line">
            <a:avLst/>
          </a:prstGeom>
          <a:ln w="19050">
            <a:solidFill>
              <a:srgbClr val="2376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53019" y="6378000"/>
            <a:ext cx="640000" cy="4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/>
          <a:lstStyle>
            <a:lvl1pPr algn="ctr">
              <a:lnSpc>
                <a:spcPts val="2400"/>
              </a:lnSpc>
              <a:spcBef>
                <a:spcPts val="0"/>
              </a:spcBef>
              <a:defRPr sz="1200">
                <a:solidFill>
                  <a:srgbClr val="1E73AA"/>
                </a:solidFill>
              </a:defRPr>
            </a:lvl1pPr>
          </a:lstStyle>
          <a:p>
            <a:fld id="{655D9571-BE1C-4F8A-9BBD-13049494B64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6480495"/>
            <a:ext cx="766521" cy="240000"/>
          </a:xfrm>
          <a:prstGeom prst="rect">
            <a:avLst/>
          </a:prstGeom>
        </p:spPr>
      </p:pic>
      <p:cxnSp>
        <p:nvCxnSpPr>
          <p:cNvPr id="12" name="直線接點 11"/>
          <p:cNvCxnSpPr/>
          <p:nvPr/>
        </p:nvCxnSpPr>
        <p:spPr>
          <a:xfrm>
            <a:off x="336000" y="6776990"/>
            <a:ext cx="11520000" cy="10675"/>
          </a:xfrm>
          <a:prstGeom prst="line">
            <a:avLst/>
          </a:prstGeom>
          <a:ln w="19050">
            <a:solidFill>
              <a:srgbClr val="2376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609598" y="69102"/>
            <a:ext cx="11055020" cy="719947"/>
          </a:xfrm>
        </p:spPr>
        <p:txBody>
          <a:bodyPr>
            <a:normAutofit/>
          </a:bodyPr>
          <a:lstStyle>
            <a:lvl1pPr algn="ctr">
              <a:defRPr sz="4000" b="1">
                <a:solidFill>
                  <a:srgbClr val="1E73AA"/>
                </a:solidFill>
                <a:latin typeface="+mj-ea"/>
                <a:ea typeface="+mj-ea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252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8548" y="0"/>
            <a:ext cx="3432091" cy="190373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H="1">
            <a:off x="5337" y="847761"/>
            <a:ext cx="10440000" cy="18000"/>
          </a:xfrm>
          <a:prstGeom prst="rect">
            <a:avLst/>
          </a:prstGeom>
          <a:gradFill flip="none" rotWithShape="1">
            <a:gsLst>
              <a:gs pos="49000">
                <a:srgbClr val="D9FCFE"/>
              </a:gs>
              <a:gs pos="100000">
                <a:srgbClr val="61CED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20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13"/>
          <a:srcRect t="1" b="15417"/>
          <a:stretch/>
        </p:blipFill>
        <p:spPr>
          <a:xfrm>
            <a:off x="10920536" y="243889"/>
            <a:ext cx="780288" cy="47541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13"/>
          <a:srcRect t="86990"/>
          <a:stretch/>
        </p:blipFill>
        <p:spPr>
          <a:xfrm>
            <a:off x="10704512" y="741696"/>
            <a:ext cx="1212336" cy="113613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1383"/>
            <a:ext cx="9835737" cy="4660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/>
              <a:t>有飾線</a:t>
            </a:r>
            <a:r>
              <a:rPr lang="en-US" altLang="zh-TW" dirty="0"/>
              <a:t>/</a:t>
            </a:r>
            <a:r>
              <a:rPr lang="zh-TW" altLang="en-US" dirty="0"/>
              <a:t>請用微軟正黑體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01E3B-D744-ED49-922F-A4A502E8E55F}" type="datetime1">
              <a:rPr lang="zh-TW" altLang="en-US" smtClean="0"/>
              <a:t>2025/7/1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F5695-61C0-421F-8D81-2C672CA3459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6E088D-327F-8EF8-5762-3E5EE8419DD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758548" y="0"/>
            <a:ext cx="3432091" cy="190373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ADBB62D-BBA6-8AAB-2CE8-B579EDEC93CB}"/>
              </a:ext>
            </a:extLst>
          </p:cNvPr>
          <p:cNvSpPr/>
          <p:nvPr userDrawn="1"/>
        </p:nvSpPr>
        <p:spPr>
          <a:xfrm flipH="1">
            <a:off x="5337" y="847761"/>
            <a:ext cx="10440000" cy="18000"/>
          </a:xfrm>
          <a:prstGeom prst="rect">
            <a:avLst/>
          </a:prstGeom>
          <a:gradFill flip="none" rotWithShape="1">
            <a:gsLst>
              <a:gs pos="49000">
                <a:srgbClr val="D9FCFE"/>
              </a:gs>
              <a:gs pos="100000">
                <a:srgbClr val="61CED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20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4E59F74-1FCC-D17B-4876-713AB60326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1" b="15417"/>
          <a:stretch/>
        </p:blipFill>
        <p:spPr>
          <a:xfrm>
            <a:off x="10920536" y="243889"/>
            <a:ext cx="780288" cy="47541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B055620-9107-E3B1-7425-CB22D0DC5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86990"/>
          <a:stretch/>
        </p:blipFill>
        <p:spPr>
          <a:xfrm>
            <a:off x="10704512" y="741696"/>
            <a:ext cx="1212336" cy="11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6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49" r:id="rId6"/>
    <p:sldLayoutId id="2147483655" r:id="rId7"/>
    <p:sldLayoutId id="2147483665" r:id="rId8"/>
    <p:sldLayoutId id="2147483667" r:id="rId9"/>
    <p:sldLayoutId id="2147483669" r:id="rId10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3600" b="1" kern="1200">
          <a:solidFill>
            <a:srgbClr val="000099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b="1" kern="1200">
          <a:solidFill>
            <a:srgbClr val="C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125.229.194.84/share.cgi?ssid=3d39c45b1ca34ca9abc931591789244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tedliu13.github.io/tccipgrids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ccip.ncdr.nat.gov.tw/tool_one.aspx?tool_id=2025042912403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6816080" y="1556792"/>
            <a:ext cx="5184576" cy="2304256"/>
          </a:xfrm>
        </p:spPr>
        <p:txBody>
          <a:bodyPr/>
          <a:lstStyle/>
          <a:p>
            <a:r>
              <a:rPr lang="en-US" altLang="zh-TW" sz="4400" dirty="0"/>
              <a:t>TCCIP AR6 1km </a:t>
            </a:r>
            <a:br>
              <a:rPr lang="en-US" altLang="zh-TW" sz="4400" dirty="0"/>
            </a:br>
            <a:r>
              <a:rPr lang="zh-TW" altLang="en-US" sz="4400" dirty="0"/>
              <a:t>統計降尺度日資料</a:t>
            </a:r>
            <a:br>
              <a:rPr lang="en-US" altLang="zh-TW" sz="4400" dirty="0"/>
            </a:br>
            <a:r>
              <a:rPr lang="zh-TW" altLang="en-US" sz="4400" dirty="0"/>
              <a:t>雲端下載工具</a:t>
            </a:r>
            <a:br>
              <a:rPr lang="en-US" altLang="zh-TW" sz="4400" dirty="0"/>
            </a:br>
            <a:r>
              <a:rPr lang="zh-TW" altLang="en-US" sz="4400" dirty="0"/>
              <a:t>說明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277A58-EC50-0F41-77A6-6C37B631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8F8F0A6-7DD6-F85E-010F-0BCD982D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2" y="1196752"/>
            <a:ext cx="6366036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6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CF51DB-46B1-E0FA-8FC6-00596643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4A34C-83ED-A572-49FF-6C9BBE7A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工具下載</a:t>
            </a:r>
            <a:endParaRPr kumimoji="1" lang="en-US" altLang="zh-TW" dirty="0"/>
          </a:p>
          <a:p>
            <a:r>
              <a:rPr kumimoji="1" lang="zh-TW" altLang="en-US" dirty="0"/>
              <a:t>工具介紹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TCCIP AR6 1km </a:t>
            </a:r>
            <a:r>
              <a:rPr kumimoji="1" lang="zh-TW" altLang="en-US" dirty="0"/>
              <a:t>統計降尺度日資料 雲端下載工具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TCCIP 1km </a:t>
            </a:r>
            <a:r>
              <a:rPr kumimoji="1" lang="zh-TW" altLang="en-US" dirty="0"/>
              <a:t>網格產生器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08A56E-6C30-95B3-68BD-14591416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42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93D17-160A-AAFE-B08C-8081373B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工具下載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CEF7ED-8B2B-B713-7E71-3E00D9DCB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TW" sz="2000" dirty="0">
                <a:hlinkClick r:id="rId2"/>
              </a:rPr>
              <a:t>https://125.229.194.84/share.cgi?ssid=3d39c45b1ca34ca9abc931591789244c</a:t>
            </a:r>
            <a:r>
              <a:rPr kumimoji="1" lang="zh-TW" altLang="en-US" sz="20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48B8C8-46DD-0D98-DA90-EA1FF303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8" name="圖片 7" descr="一張含有 文字, 字型, 數字, 軟體 的圖片&#10;&#10;自動產生的描述">
            <a:extLst>
              <a:ext uri="{FF2B5EF4-FFF2-40B4-BE49-F238E27FC236}">
                <a16:creationId xmlns:a16="http://schemas.microsoft.com/office/drawing/2014/main" id="{E26F67B9-812A-CDFF-8CF4-70D3E952D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4297"/>
            <a:ext cx="10670976" cy="5010386"/>
          </a:xfrm>
          <a:prstGeom prst="rect">
            <a:avLst/>
          </a:prstGeom>
        </p:spPr>
      </p:pic>
      <p:sp>
        <p:nvSpPr>
          <p:cNvPr id="13" name="直線圖說文字 2 (加上框線和強調線) 12">
            <a:extLst>
              <a:ext uri="{FF2B5EF4-FFF2-40B4-BE49-F238E27FC236}">
                <a16:creationId xmlns:a16="http://schemas.microsoft.com/office/drawing/2014/main" id="{5418FFC1-CEE9-68A2-B562-C7CC23AE6A73}"/>
              </a:ext>
            </a:extLst>
          </p:cNvPr>
          <p:cNvSpPr/>
          <p:nvPr/>
        </p:nvSpPr>
        <p:spPr>
          <a:xfrm>
            <a:off x="4151784" y="4005064"/>
            <a:ext cx="2952328" cy="648072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2976"/>
              <a:gd name="adj5" fmla="val 46874"/>
              <a:gd name="adj6" fmla="val -17135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GWL</a:t>
            </a:r>
            <a:r>
              <a:rPr kumimoji="1" lang="zh-TW" altLang="en-US" dirty="0"/>
              <a:t>時期版本</a:t>
            </a:r>
          </a:p>
        </p:txBody>
      </p:sp>
      <p:sp>
        <p:nvSpPr>
          <p:cNvPr id="14" name="直線圖說文字 2 (加上框線和強調線) 13">
            <a:extLst>
              <a:ext uri="{FF2B5EF4-FFF2-40B4-BE49-F238E27FC236}">
                <a16:creationId xmlns:a16="http://schemas.microsoft.com/office/drawing/2014/main" id="{DB498261-2B5B-0C8E-0F24-93FA0653F7F4}"/>
              </a:ext>
            </a:extLst>
          </p:cNvPr>
          <p:cNvSpPr/>
          <p:nvPr/>
        </p:nvSpPr>
        <p:spPr>
          <a:xfrm>
            <a:off x="4151784" y="4760896"/>
            <a:ext cx="2952328" cy="648072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2976"/>
              <a:gd name="adj5" fmla="val 46874"/>
              <a:gd name="adj6" fmla="val -17135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四個時期版本</a:t>
            </a:r>
          </a:p>
        </p:txBody>
      </p:sp>
      <p:sp>
        <p:nvSpPr>
          <p:cNvPr id="15" name="直線圖說文字 2 (加上框線和強調線) 14">
            <a:extLst>
              <a:ext uri="{FF2B5EF4-FFF2-40B4-BE49-F238E27FC236}">
                <a16:creationId xmlns:a16="http://schemas.microsoft.com/office/drawing/2014/main" id="{0FED0720-C4A6-CE41-B2A3-7261AC456AEC}"/>
              </a:ext>
            </a:extLst>
          </p:cNvPr>
          <p:cNvSpPr/>
          <p:nvPr/>
        </p:nvSpPr>
        <p:spPr>
          <a:xfrm>
            <a:off x="4151784" y="5516728"/>
            <a:ext cx="2952328" cy="648072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2976"/>
              <a:gd name="adj5" fmla="val 46874"/>
              <a:gd name="adj6" fmla="val -17135"/>
            </a:avLst>
          </a:prstGeom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1km</a:t>
            </a:r>
            <a:r>
              <a:rPr kumimoji="1" lang="zh-TW" altLang="en-US" dirty="0"/>
              <a:t>網格產生器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DA9365-9BA6-810E-EEB9-17BC2B22720B}"/>
              </a:ext>
            </a:extLst>
          </p:cNvPr>
          <p:cNvSpPr txBox="1"/>
          <p:nvPr/>
        </p:nvSpPr>
        <p:spPr>
          <a:xfrm>
            <a:off x="3919788" y="160429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800" b="1" dirty="0">
                <a:solidFill>
                  <a:srgbClr val="C00000"/>
                </a:solidFill>
              </a:rPr>
              <a:t>此連結僅供內部使用</a:t>
            </a:r>
          </a:p>
        </p:txBody>
      </p:sp>
    </p:spTree>
    <p:extLst>
      <p:ext uri="{BB962C8B-B14F-4D97-AF65-F5344CB8AC3E}">
        <p14:creationId xmlns:p14="http://schemas.microsoft.com/office/powerpoint/2010/main" val="26406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4C1514-89B1-5836-4BF1-9ED98E6A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DF3C4D4-100F-9A76-D558-684DBDBC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TCCIP AR6 1km </a:t>
            </a:r>
            <a:br>
              <a:rPr kumimoji="1" lang="en-US" altLang="zh-TW" dirty="0"/>
            </a:br>
            <a:r>
              <a:rPr kumimoji="1" lang="zh-TW" altLang="en-US" dirty="0"/>
              <a:t>統計降尺度日資料 雲端下載工具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B5305F3-4798-CCDC-CF80-F4825B6310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99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8841783C-7055-6147-4048-6E665BBA7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548" y="1222765"/>
            <a:ext cx="3086100" cy="52578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084ACBB-5F9C-91D9-E673-D9786021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一、工具內容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890330-2565-3A80-A765-021B9C6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231E02-CED7-5DBE-1CAE-7E80D01D8989}"/>
              </a:ext>
            </a:extLst>
          </p:cNvPr>
          <p:cNvSpPr txBox="1"/>
          <p:nvPr/>
        </p:nvSpPr>
        <p:spPr>
          <a:xfrm>
            <a:off x="4367807" y="1124744"/>
            <a:ext cx="3795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金鑰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kumimoji="1" lang="zh-TW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請與</a:t>
            </a:r>
            <a:r>
              <a:rPr kumimoji="1" lang="en-US" altLang="zh-TW" sz="28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TCCIP</a:t>
            </a:r>
            <a:r>
              <a:rPr kumimoji="1" lang="zh-TW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申請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A9F8E44-21E2-7FC6-42CD-330E9FC59C61}"/>
              </a:ext>
            </a:extLst>
          </p:cNvPr>
          <p:cNvSpPr txBox="1"/>
          <p:nvPr/>
        </p:nvSpPr>
        <p:spPr>
          <a:xfrm>
            <a:off x="4367808" y="1700808"/>
            <a:ext cx="3672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執行檔</a:t>
            </a:r>
            <a:endParaRPr kumimoji="1" lang="en-US" altLang="zh-TW" sz="32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318DEC1-330A-46B1-3BCE-1179CC365195}"/>
              </a:ext>
            </a:extLst>
          </p:cNvPr>
          <p:cNvSpPr txBox="1"/>
          <p:nvPr/>
        </p:nvSpPr>
        <p:spPr>
          <a:xfrm>
            <a:off x="4367808" y="2852936"/>
            <a:ext cx="3672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網格檔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可置換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244C4CF-E039-8567-B6E1-EBAD9B0A57BE}"/>
              </a:ext>
            </a:extLst>
          </p:cNvPr>
          <p:cNvSpPr txBox="1"/>
          <p:nvPr/>
        </p:nvSpPr>
        <p:spPr>
          <a:xfrm>
            <a:off x="4367808" y="4005064"/>
            <a:ext cx="36724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模式情境檔</a:t>
            </a:r>
            <a:endParaRPr kumimoji="1" lang="en-US" altLang="zh-TW" sz="32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特殊情況可更改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kumimoji="1" lang="zh-TW" altLang="en-US" sz="32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F7C18D91-8E88-4872-99EE-847FF9A6AEB9}"/>
              </a:ext>
            </a:extLst>
          </p:cNvPr>
          <p:cNvSpPr/>
          <p:nvPr/>
        </p:nvSpPr>
        <p:spPr>
          <a:xfrm>
            <a:off x="3935760" y="141277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431171F-4429-6051-A673-DEE94F4D8D5A}"/>
              </a:ext>
            </a:extLst>
          </p:cNvPr>
          <p:cNvSpPr/>
          <p:nvPr/>
        </p:nvSpPr>
        <p:spPr>
          <a:xfrm>
            <a:off x="3935760" y="192118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B9434587-9420-5914-CC1E-0250EED1A31A}"/>
              </a:ext>
            </a:extLst>
          </p:cNvPr>
          <p:cNvSpPr/>
          <p:nvPr/>
        </p:nvSpPr>
        <p:spPr>
          <a:xfrm>
            <a:off x="3935760" y="307331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EE4D4ED-22ED-118C-C243-8FD8E6D214DA}"/>
              </a:ext>
            </a:extLst>
          </p:cNvPr>
          <p:cNvSpPr/>
          <p:nvPr/>
        </p:nvSpPr>
        <p:spPr>
          <a:xfrm>
            <a:off x="3935760" y="440599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右大括弧 22">
            <a:extLst>
              <a:ext uri="{FF2B5EF4-FFF2-40B4-BE49-F238E27FC236}">
                <a16:creationId xmlns:a16="http://schemas.microsoft.com/office/drawing/2014/main" id="{86AAE8B8-1196-931C-E751-2067324BF20C}"/>
              </a:ext>
            </a:extLst>
          </p:cNvPr>
          <p:cNvSpPr/>
          <p:nvPr/>
        </p:nvSpPr>
        <p:spPr>
          <a:xfrm>
            <a:off x="3503712" y="3514416"/>
            <a:ext cx="314490" cy="18412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右大括弧 23">
            <a:extLst>
              <a:ext uri="{FF2B5EF4-FFF2-40B4-BE49-F238E27FC236}">
                <a16:creationId xmlns:a16="http://schemas.microsoft.com/office/drawing/2014/main" id="{9E51BCC0-89D2-85A2-9E81-8780DBB022FB}"/>
              </a:ext>
            </a:extLst>
          </p:cNvPr>
          <p:cNvSpPr/>
          <p:nvPr/>
        </p:nvSpPr>
        <p:spPr>
          <a:xfrm>
            <a:off x="3503712" y="1268760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右大括弧 24">
            <a:extLst>
              <a:ext uri="{FF2B5EF4-FFF2-40B4-BE49-F238E27FC236}">
                <a16:creationId xmlns:a16="http://schemas.microsoft.com/office/drawing/2014/main" id="{D9A848CF-2763-7870-A669-D976C3DBCC84}"/>
              </a:ext>
            </a:extLst>
          </p:cNvPr>
          <p:cNvSpPr/>
          <p:nvPr/>
        </p:nvSpPr>
        <p:spPr>
          <a:xfrm>
            <a:off x="3503712" y="1786223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右大括弧 25">
            <a:extLst>
              <a:ext uri="{FF2B5EF4-FFF2-40B4-BE49-F238E27FC236}">
                <a16:creationId xmlns:a16="http://schemas.microsoft.com/office/drawing/2014/main" id="{5C41BF9F-5F3A-192B-F119-5FCEB1507F64}"/>
              </a:ext>
            </a:extLst>
          </p:cNvPr>
          <p:cNvSpPr/>
          <p:nvPr/>
        </p:nvSpPr>
        <p:spPr>
          <a:xfrm>
            <a:off x="3503712" y="2924944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30" name="圖片 29" descr="一張含有 螢幕擷取畫面, 文字, 軟體, 電腦圖示 的圖片&#10;&#10;自動產生的描述">
            <a:extLst>
              <a:ext uri="{FF2B5EF4-FFF2-40B4-BE49-F238E27FC236}">
                <a16:creationId xmlns:a16="http://schemas.microsoft.com/office/drawing/2014/main" id="{3E6C41E5-4535-7358-F873-3DFB374FB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21422" r="58381" b="40413"/>
          <a:stretch/>
        </p:blipFill>
        <p:spPr>
          <a:xfrm>
            <a:off x="73786" y="1124744"/>
            <a:ext cx="3285909" cy="5518262"/>
          </a:xfrm>
          <a:prstGeom prst="rect">
            <a:avLst/>
          </a:prstGeom>
        </p:spPr>
      </p:pic>
      <p:sp>
        <p:nvSpPr>
          <p:cNvPr id="33" name="橢圓 32">
            <a:extLst>
              <a:ext uri="{FF2B5EF4-FFF2-40B4-BE49-F238E27FC236}">
                <a16:creationId xmlns:a16="http://schemas.microsoft.com/office/drawing/2014/main" id="{9F548DA4-6A49-5093-BA69-947BBFCF4556}"/>
              </a:ext>
            </a:extLst>
          </p:cNvPr>
          <p:cNvSpPr/>
          <p:nvPr/>
        </p:nvSpPr>
        <p:spPr>
          <a:xfrm>
            <a:off x="3935760" y="568311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右大括弧 33">
            <a:extLst>
              <a:ext uri="{FF2B5EF4-FFF2-40B4-BE49-F238E27FC236}">
                <a16:creationId xmlns:a16="http://schemas.microsoft.com/office/drawing/2014/main" id="{717AEEB6-F97E-A522-63CA-B6F5029EFE54}"/>
              </a:ext>
            </a:extLst>
          </p:cNvPr>
          <p:cNvSpPr/>
          <p:nvPr/>
        </p:nvSpPr>
        <p:spPr>
          <a:xfrm>
            <a:off x="3503712" y="5534746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283D06D-BE30-F830-6AAC-52F958FFCF37}"/>
              </a:ext>
            </a:extLst>
          </p:cNvPr>
          <p:cNvSpPr txBox="1"/>
          <p:nvPr/>
        </p:nvSpPr>
        <p:spPr>
          <a:xfrm>
            <a:off x="4367808" y="5462737"/>
            <a:ext cx="3672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說明檔</a:t>
            </a:r>
            <a:endParaRPr kumimoji="1" lang="en-US" altLang="zh-TW" sz="32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CF69E872-E0AF-266C-8261-AA4DAB600C5A}"/>
              </a:ext>
            </a:extLst>
          </p:cNvPr>
          <p:cNvSpPr/>
          <p:nvPr/>
        </p:nvSpPr>
        <p:spPr>
          <a:xfrm>
            <a:off x="8265297" y="140196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5A1CD41-AE71-A10F-611D-7C7C2E94409A}"/>
              </a:ext>
            </a:extLst>
          </p:cNvPr>
          <p:cNvSpPr/>
          <p:nvPr/>
        </p:nvSpPr>
        <p:spPr>
          <a:xfrm>
            <a:off x="5991523" y="192118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56A15852-1AE7-EC15-5AED-127A9E628A14}"/>
              </a:ext>
            </a:extLst>
          </p:cNvPr>
          <p:cNvSpPr/>
          <p:nvPr/>
        </p:nvSpPr>
        <p:spPr>
          <a:xfrm>
            <a:off x="7680176" y="30625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9F8D5916-A9BE-E550-5CE3-8ADC24F8E332}"/>
              </a:ext>
            </a:extLst>
          </p:cNvPr>
          <p:cNvSpPr/>
          <p:nvPr/>
        </p:nvSpPr>
        <p:spPr>
          <a:xfrm>
            <a:off x="6128386" y="568311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D9AD1B29-E9D6-AEBD-3D89-DDEFE4E146AA}"/>
              </a:ext>
            </a:extLst>
          </p:cNvPr>
          <p:cNvSpPr/>
          <p:nvPr/>
        </p:nvSpPr>
        <p:spPr>
          <a:xfrm>
            <a:off x="7685667" y="43587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右大括弧 40">
            <a:extLst>
              <a:ext uri="{FF2B5EF4-FFF2-40B4-BE49-F238E27FC236}">
                <a16:creationId xmlns:a16="http://schemas.microsoft.com/office/drawing/2014/main" id="{5FC03CD7-20D9-5C58-D637-E334EFA9CBC4}"/>
              </a:ext>
            </a:extLst>
          </p:cNvPr>
          <p:cNvSpPr/>
          <p:nvPr/>
        </p:nvSpPr>
        <p:spPr>
          <a:xfrm flipH="1">
            <a:off x="8477149" y="4538219"/>
            <a:ext cx="314490" cy="18412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右大括弧 41">
            <a:extLst>
              <a:ext uri="{FF2B5EF4-FFF2-40B4-BE49-F238E27FC236}">
                <a16:creationId xmlns:a16="http://schemas.microsoft.com/office/drawing/2014/main" id="{3C3ACC68-CF10-AA35-CA67-9D1B2B188397}"/>
              </a:ext>
            </a:extLst>
          </p:cNvPr>
          <p:cNvSpPr/>
          <p:nvPr/>
        </p:nvSpPr>
        <p:spPr>
          <a:xfrm flipH="1">
            <a:off x="8511313" y="1271500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右大括弧 42">
            <a:extLst>
              <a:ext uri="{FF2B5EF4-FFF2-40B4-BE49-F238E27FC236}">
                <a16:creationId xmlns:a16="http://schemas.microsoft.com/office/drawing/2014/main" id="{21E505E3-D631-E924-2DD9-C400EAF9508B}"/>
              </a:ext>
            </a:extLst>
          </p:cNvPr>
          <p:cNvSpPr/>
          <p:nvPr/>
        </p:nvSpPr>
        <p:spPr>
          <a:xfrm flipH="1">
            <a:off x="8511313" y="1788963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右大括弧 43">
            <a:extLst>
              <a:ext uri="{FF2B5EF4-FFF2-40B4-BE49-F238E27FC236}">
                <a16:creationId xmlns:a16="http://schemas.microsoft.com/office/drawing/2014/main" id="{A03DE593-D403-300A-9A8B-1E02CDAF6338}"/>
              </a:ext>
            </a:extLst>
          </p:cNvPr>
          <p:cNvSpPr/>
          <p:nvPr/>
        </p:nvSpPr>
        <p:spPr>
          <a:xfrm flipH="1">
            <a:off x="8511313" y="2927684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右大括弧 44">
            <a:extLst>
              <a:ext uri="{FF2B5EF4-FFF2-40B4-BE49-F238E27FC236}">
                <a16:creationId xmlns:a16="http://schemas.microsoft.com/office/drawing/2014/main" id="{25C1474E-230B-E31A-FA7B-884283BF79F2}"/>
              </a:ext>
            </a:extLst>
          </p:cNvPr>
          <p:cNvSpPr/>
          <p:nvPr/>
        </p:nvSpPr>
        <p:spPr>
          <a:xfrm flipH="1">
            <a:off x="8537771" y="3512450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7" name="肘形接點 46">
            <a:extLst>
              <a:ext uri="{FF2B5EF4-FFF2-40B4-BE49-F238E27FC236}">
                <a16:creationId xmlns:a16="http://schemas.microsoft.com/office/drawing/2014/main" id="{6273AADE-5F92-E6DB-E72F-211FC469C401}"/>
              </a:ext>
            </a:extLst>
          </p:cNvPr>
          <p:cNvCxnSpPr>
            <a:cxnSpLocks/>
            <a:stCxn id="41" idx="1"/>
            <a:endCxn id="40" idx="6"/>
          </p:cNvCxnSpPr>
          <p:nvPr/>
        </p:nvCxnSpPr>
        <p:spPr>
          <a:xfrm flipH="1" flipV="1">
            <a:off x="7829683" y="4430716"/>
            <a:ext cx="647466" cy="1028152"/>
          </a:xfrm>
          <a:prstGeom prst="bentConnector3">
            <a:avLst>
              <a:gd name="adj1" fmla="val 169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48">
            <a:extLst>
              <a:ext uri="{FF2B5EF4-FFF2-40B4-BE49-F238E27FC236}">
                <a16:creationId xmlns:a16="http://schemas.microsoft.com/office/drawing/2014/main" id="{17A650DB-E4E2-6511-CC0B-0259028C3573}"/>
              </a:ext>
            </a:extLst>
          </p:cNvPr>
          <p:cNvCxnSpPr>
            <a:stCxn id="45" idx="1"/>
            <a:endCxn id="39" idx="6"/>
          </p:cNvCxnSpPr>
          <p:nvPr/>
        </p:nvCxnSpPr>
        <p:spPr>
          <a:xfrm flipH="1">
            <a:off x="6272402" y="3721771"/>
            <a:ext cx="2265369" cy="2033353"/>
          </a:xfrm>
          <a:prstGeom prst="bentConnector3">
            <a:avLst>
              <a:gd name="adj1" fmla="val 210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A4CC5D7C-DC1D-1C65-5EBA-3212F488614A}"/>
              </a:ext>
            </a:extLst>
          </p:cNvPr>
          <p:cNvCxnSpPr>
            <a:endCxn id="37" idx="6"/>
          </p:cNvCxnSpPr>
          <p:nvPr/>
        </p:nvCxnSpPr>
        <p:spPr>
          <a:xfrm flipH="1">
            <a:off x="6135539" y="1993195"/>
            <a:ext cx="2341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1763682-3183-75AA-E7D1-48D486527927}"/>
              </a:ext>
            </a:extLst>
          </p:cNvPr>
          <p:cNvSpPr txBox="1"/>
          <p:nvPr/>
        </p:nvSpPr>
        <p:spPr>
          <a:xfrm>
            <a:off x="263352" y="785713"/>
            <a:ext cx="2783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b="1" dirty="0">
                <a:solidFill>
                  <a:srgbClr val="C00000"/>
                </a:solidFill>
              </a:rPr>
              <a:t>GWL</a:t>
            </a:r>
            <a:r>
              <a:rPr kumimoji="1" lang="zh-TW" altLang="en-US" sz="3200" b="1" dirty="0">
                <a:solidFill>
                  <a:srgbClr val="C00000"/>
                </a:solidFill>
              </a:rPr>
              <a:t>時期版本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4BFD32AB-4E93-3D61-74EE-A018E6CAFC1B}"/>
              </a:ext>
            </a:extLst>
          </p:cNvPr>
          <p:cNvSpPr txBox="1"/>
          <p:nvPr/>
        </p:nvSpPr>
        <p:spPr>
          <a:xfrm>
            <a:off x="8791639" y="74358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b="1" dirty="0">
                <a:solidFill>
                  <a:srgbClr val="C00000"/>
                </a:solidFill>
              </a:rPr>
              <a:t>四個時期版本</a:t>
            </a:r>
          </a:p>
        </p:txBody>
      </p:sp>
    </p:spTree>
    <p:extLst>
      <p:ext uri="{BB962C8B-B14F-4D97-AF65-F5344CB8AC3E}">
        <p14:creationId xmlns:p14="http://schemas.microsoft.com/office/powerpoint/2010/main" val="405552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CDEDF8C-7FDF-6A24-C684-C307AFA7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112" y="1825600"/>
            <a:ext cx="7500533" cy="441171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CBDCF5E-3643-B46B-A13D-06485470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二、執行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BFFD15-8040-B4B3-D95B-C1ABC92E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點擊執行檔即可執行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AA11F8-9EF9-2BBA-AD96-529CDFE4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2E47ED-B868-5BFF-1E85-5340CEF11FC0}"/>
              </a:ext>
            </a:extLst>
          </p:cNvPr>
          <p:cNvSpPr txBox="1"/>
          <p:nvPr/>
        </p:nvSpPr>
        <p:spPr>
          <a:xfrm>
            <a:off x="9984432" y="418454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重要提醒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A3AAB1-148E-CF8F-6C06-9A8D791FEDB1}"/>
              </a:ext>
            </a:extLst>
          </p:cNvPr>
          <p:cNvSpPr txBox="1"/>
          <p:nvPr/>
        </p:nvSpPr>
        <p:spPr>
          <a:xfrm>
            <a:off x="9984432" y="5085184"/>
            <a:ext cx="2020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按</a:t>
            </a:r>
            <a:r>
              <a:rPr kumimoji="1" lang="en-US" altLang="zh-TW" dirty="0"/>
              <a:t> “</a:t>
            </a:r>
            <a:r>
              <a:rPr kumimoji="1" lang="zh-TW" altLang="en-US" dirty="0"/>
              <a:t>確定</a:t>
            </a:r>
            <a:r>
              <a:rPr kumimoji="1" lang="en-US" altLang="zh-TW" dirty="0"/>
              <a:t>”</a:t>
            </a:r>
            <a:r>
              <a:rPr kumimoji="1" lang="zh-TW" altLang="en-US" dirty="0"/>
              <a:t>繼續</a:t>
            </a: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49FB1B0-042E-EA44-6CA1-87026249749B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7968208" y="5316016"/>
            <a:ext cx="20162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5351D71D-92CC-1009-E4CB-02452D50591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9480376" y="4415377"/>
            <a:ext cx="5040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5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BBCBC476-6BC6-83ED-F5DB-18D240A8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201" y="1700809"/>
            <a:ext cx="4912389" cy="51571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BF8D284-B022-4EC8-D3FD-82AF3B0E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07" y="1700809"/>
            <a:ext cx="4912388" cy="515719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174A99F-8675-CEF2-3912-2D891B11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三、工具選單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23F50F-84F6-C607-B913-9830D2F63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選擇資料段、變數，</a:t>
            </a:r>
            <a:r>
              <a:rPr kumimoji="1" lang="zh-TW" altLang="en-US" dirty="0">
                <a:sym typeface="Wingdings" pitchFamily="2" charset="2"/>
              </a:rPr>
              <a:t>點擊“</a:t>
            </a:r>
            <a:r>
              <a:rPr kumimoji="1" lang="zh-TW" altLang="en-US" dirty="0"/>
              <a:t>開始”，便開始下載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9E467C-94B9-91CF-D487-97F0E51F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7CAEE66-76BF-4D70-0C1B-D53E25E50AB6}"/>
              </a:ext>
            </a:extLst>
          </p:cNvPr>
          <p:cNvSpPr txBox="1"/>
          <p:nvPr/>
        </p:nvSpPr>
        <p:spPr>
          <a:xfrm>
            <a:off x="2279576" y="2708920"/>
            <a:ext cx="2783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b="1" dirty="0">
                <a:solidFill>
                  <a:srgbClr val="C00000"/>
                </a:solidFill>
              </a:rPr>
              <a:t>GWL</a:t>
            </a:r>
            <a:r>
              <a:rPr kumimoji="1" lang="zh-TW" altLang="en-US" sz="3200" b="1" dirty="0">
                <a:solidFill>
                  <a:srgbClr val="C00000"/>
                </a:solidFill>
              </a:rPr>
              <a:t>時期版本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9FBB6D9-4733-5162-7B94-48A03F4CEF86}"/>
              </a:ext>
            </a:extLst>
          </p:cNvPr>
          <p:cNvSpPr txBox="1"/>
          <p:nvPr/>
        </p:nvSpPr>
        <p:spPr>
          <a:xfrm>
            <a:off x="7558809" y="270892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b="1" dirty="0">
                <a:solidFill>
                  <a:srgbClr val="C00000"/>
                </a:solidFill>
              </a:rPr>
              <a:t>四個時期版本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C690587-3C6F-6D60-A7A4-282138233C83}"/>
              </a:ext>
            </a:extLst>
          </p:cNvPr>
          <p:cNvSpPr txBox="1"/>
          <p:nvPr/>
        </p:nvSpPr>
        <p:spPr>
          <a:xfrm>
            <a:off x="3215680" y="206695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000099"/>
                </a:solidFill>
              </a:rPr>
              <a:t>工具版本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DE1096F-1410-F1B5-46D4-2C8012F431F1}"/>
              </a:ext>
            </a:extLst>
          </p:cNvPr>
          <p:cNvCxnSpPr>
            <a:cxnSpLocks/>
          </p:cNvCxnSpPr>
          <p:nvPr/>
        </p:nvCxnSpPr>
        <p:spPr>
          <a:xfrm>
            <a:off x="3359696" y="1916832"/>
            <a:ext cx="72008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7B9A437-E35E-1F14-1499-3AF5B39FD742}"/>
              </a:ext>
            </a:extLst>
          </p:cNvPr>
          <p:cNvCxnSpPr>
            <a:cxnSpLocks/>
          </p:cNvCxnSpPr>
          <p:nvPr/>
        </p:nvCxnSpPr>
        <p:spPr>
          <a:xfrm>
            <a:off x="8658367" y="1922133"/>
            <a:ext cx="72008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CC7196D-B707-376A-3598-522844B1AD89}"/>
              </a:ext>
            </a:extLst>
          </p:cNvPr>
          <p:cNvSpPr txBox="1"/>
          <p:nvPr/>
        </p:nvSpPr>
        <p:spPr>
          <a:xfrm>
            <a:off x="8457164" y="20651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000099"/>
                </a:solidFill>
              </a:rPr>
              <a:t>工具版本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A2FCBC5-B474-943D-54C9-4925175BA131}"/>
              </a:ext>
            </a:extLst>
          </p:cNvPr>
          <p:cNvSpPr txBox="1"/>
          <p:nvPr/>
        </p:nvSpPr>
        <p:spPr>
          <a:xfrm>
            <a:off x="6384032" y="497201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6">
                    <a:lumMod val="50000"/>
                  </a:schemeClr>
                </a:solidFill>
              </a:rPr>
              <a:t>自行輸入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04AFDFF-59CC-4FA9-9BC1-E325A08098B5}"/>
              </a:ext>
            </a:extLst>
          </p:cNvPr>
          <p:cNvSpPr txBox="1"/>
          <p:nvPr/>
        </p:nvSpPr>
        <p:spPr>
          <a:xfrm>
            <a:off x="1199456" y="503749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6">
                    <a:lumMod val="50000"/>
                  </a:schemeClr>
                </a:solidFill>
              </a:rPr>
              <a:t>自行輸入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3D27C71-2AD5-AE5C-81DA-003AC591BC3D}"/>
              </a:ext>
            </a:extLst>
          </p:cNvPr>
          <p:cNvCxnSpPr>
            <a:cxnSpLocks/>
          </p:cNvCxnSpPr>
          <p:nvPr/>
        </p:nvCxnSpPr>
        <p:spPr>
          <a:xfrm>
            <a:off x="1307131" y="4933684"/>
            <a:ext cx="1260477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21BB6A2-3D5E-C5D5-5CCE-6B4187C1E26D}"/>
              </a:ext>
            </a:extLst>
          </p:cNvPr>
          <p:cNvCxnSpPr>
            <a:cxnSpLocks/>
          </p:cNvCxnSpPr>
          <p:nvPr/>
        </p:nvCxnSpPr>
        <p:spPr>
          <a:xfrm>
            <a:off x="6600056" y="4951379"/>
            <a:ext cx="119974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12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121E4-781E-3FC4-D937-EA638572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四、執行狀態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3168B3-BD82-D1EA-E4AD-844A0D2FD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4"/>
            <a:ext cx="4190256" cy="5596731"/>
          </a:xfrm>
        </p:spPr>
        <p:txBody>
          <a:bodyPr>
            <a:normAutofit fontScale="92500" lnSpcReduction="10000"/>
          </a:bodyPr>
          <a:lstStyle/>
          <a:p>
            <a:r>
              <a:rPr kumimoji="1" lang="zh-TW" altLang="en-US" b="0" dirty="0"/>
              <a:t>執行時，會顯示</a:t>
            </a:r>
            <a:r>
              <a:rPr kumimoji="1" lang="zh-TW" altLang="en-US" dirty="0">
                <a:solidFill>
                  <a:srgbClr val="C00000"/>
                </a:solidFill>
              </a:rPr>
              <a:t>每個檔案</a:t>
            </a:r>
            <a:r>
              <a:rPr kumimoji="1" lang="zh-TW" altLang="en-US" b="0" dirty="0"/>
              <a:t>開始處理的</a:t>
            </a:r>
            <a:r>
              <a:rPr kumimoji="1" lang="zh-TW" altLang="en-US" dirty="0">
                <a:solidFill>
                  <a:srgbClr val="C00000"/>
                </a:solidFill>
              </a:rPr>
              <a:t>時間</a:t>
            </a:r>
            <a:endParaRPr kumimoji="1" lang="en-US" altLang="zh-TW" dirty="0">
              <a:solidFill>
                <a:srgbClr val="C00000"/>
              </a:solidFill>
            </a:endParaRPr>
          </a:p>
          <a:p>
            <a:r>
              <a:rPr kumimoji="1" lang="zh-TW" altLang="en-US" b="0" dirty="0"/>
              <a:t>執行</a:t>
            </a:r>
            <a:r>
              <a:rPr kumimoji="1" lang="zh-TW" altLang="en-US" dirty="0">
                <a:solidFill>
                  <a:srgbClr val="C00000"/>
                </a:solidFill>
              </a:rPr>
              <a:t>過程</a:t>
            </a:r>
            <a:r>
              <a:rPr kumimoji="1" lang="zh-TW" altLang="en-US" b="0" dirty="0"/>
              <a:t>，選單會呈現</a:t>
            </a:r>
            <a:r>
              <a:rPr kumimoji="1" lang="zh-TW" altLang="en-US" dirty="0">
                <a:solidFill>
                  <a:srgbClr val="C00000"/>
                </a:solidFill>
              </a:rPr>
              <a:t>不可選狀態</a:t>
            </a:r>
            <a:r>
              <a:rPr kumimoji="1" lang="zh-TW" altLang="en-US" b="0" dirty="0"/>
              <a:t>，執行</a:t>
            </a:r>
            <a:r>
              <a:rPr kumimoji="1" lang="zh-TW" altLang="en-US" dirty="0">
                <a:solidFill>
                  <a:srgbClr val="C00000"/>
                </a:solidFill>
              </a:rPr>
              <a:t>完成後</a:t>
            </a:r>
            <a:r>
              <a:rPr kumimoji="1" lang="zh-TW" altLang="en-US" b="0" dirty="0"/>
              <a:t>，會恢復</a:t>
            </a:r>
            <a:r>
              <a:rPr kumimoji="1" lang="zh-TW" altLang="en-US" dirty="0">
                <a:solidFill>
                  <a:srgbClr val="C00000"/>
                </a:solidFill>
              </a:rPr>
              <a:t>可選擇狀態</a:t>
            </a:r>
            <a:r>
              <a:rPr kumimoji="1" lang="zh-TW" altLang="en-US" b="0" dirty="0"/>
              <a:t>，可繼續執行下一個下載</a:t>
            </a:r>
            <a:endParaRPr kumimoji="1" lang="en-US" altLang="zh-TW" b="0" dirty="0"/>
          </a:p>
          <a:p>
            <a:r>
              <a:rPr kumimoji="1" lang="zh-TW" altLang="en-US" b="0" dirty="0"/>
              <a:t>若最後一個檔案</a:t>
            </a:r>
            <a:r>
              <a:rPr kumimoji="1" lang="zh-TW" altLang="en-US" dirty="0">
                <a:solidFill>
                  <a:srgbClr val="C00000"/>
                </a:solidFill>
              </a:rPr>
              <a:t>遠超過</a:t>
            </a:r>
            <a:r>
              <a:rPr kumimoji="1" lang="zh-TW" altLang="en-US" b="0" dirty="0"/>
              <a:t>之前檔案</a:t>
            </a:r>
            <a:r>
              <a:rPr kumimoji="1" lang="zh-TW" altLang="en-US" dirty="0">
                <a:solidFill>
                  <a:srgbClr val="C00000"/>
                </a:solidFill>
              </a:rPr>
              <a:t>下載時間</a:t>
            </a:r>
            <a:r>
              <a:rPr kumimoji="1" lang="zh-TW" altLang="en-US" b="0" dirty="0"/>
              <a:t>，建議重新下載</a:t>
            </a:r>
            <a:endParaRPr kumimoji="1" lang="en-US" altLang="zh-TW" b="0" dirty="0"/>
          </a:p>
          <a:p>
            <a:r>
              <a:rPr kumimoji="1" lang="zh-TW" altLang="en-US" b="0" dirty="0"/>
              <a:t>若完全</a:t>
            </a:r>
            <a:r>
              <a:rPr kumimoji="1" lang="zh-TW" altLang="en-US" dirty="0">
                <a:solidFill>
                  <a:srgbClr val="C00000"/>
                </a:solidFill>
              </a:rPr>
              <a:t>沒有執行狀態</a:t>
            </a:r>
            <a:r>
              <a:rPr kumimoji="1" lang="zh-TW" altLang="en-US" b="0" dirty="0"/>
              <a:t>，建議重新下載工具</a:t>
            </a:r>
            <a:endParaRPr kumimoji="1" lang="en-US" altLang="zh-TW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BD3332-A82F-3598-D3B5-6953A6CE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圖片 6" descr="一張含有 文字, 螢幕擷取畫面, 陳列, 數字 的圖片&#10;&#10;AI 產生的內容可能不正確。">
            <a:extLst>
              <a:ext uri="{FF2B5EF4-FFF2-40B4-BE49-F238E27FC236}">
                <a16:creationId xmlns:a16="http://schemas.microsoft.com/office/drawing/2014/main" id="{CFDC34A6-C5F9-6A23-00F1-15014A7E9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96" y="911597"/>
            <a:ext cx="5666877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4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0B652-583E-A856-F8ED-17CD6B22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五、下載檔案位置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6B1B6-A107-6078-8A81-38B5AB4F8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下載檔案會依照不同時期放在工具下的不同目錄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E59BF1-CDC0-4736-7E1D-5D5ED117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 descr="一張含有 螢幕擷取畫面, 軟體, 文字, 電腦圖示 的圖片&#10;&#10;自動產生的描述">
            <a:extLst>
              <a:ext uri="{FF2B5EF4-FFF2-40B4-BE49-F238E27FC236}">
                <a16:creationId xmlns:a16="http://schemas.microsoft.com/office/drawing/2014/main" id="{305BDF00-04C1-35BE-9E38-D3A54CCF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21897" r="58627" b="59258"/>
          <a:stretch/>
        </p:blipFill>
        <p:spPr>
          <a:xfrm>
            <a:off x="1061993" y="2597774"/>
            <a:ext cx="4169911" cy="3528391"/>
          </a:xfrm>
          <a:prstGeom prst="rect">
            <a:avLst/>
          </a:prstGeom>
        </p:spPr>
      </p:pic>
      <p:pic>
        <p:nvPicPr>
          <p:cNvPr id="10" name="圖片 9" descr="一張含有 螢幕擷取畫面, 軟體, 文字, 電腦圖示 的圖片&#10;&#10;自動產生的描述">
            <a:extLst>
              <a:ext uri="{FF2B5EF4-FFF2-40B4-BE49-F238E27FC236}">
                <a16:creationId xmlns:a16="http://schemas.microsoft.com/office/drawing/2014/main" id="{A09E4BC0-0E87-3B0C-FD31-715EF36FF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21897" r="57701" b="59258"/>
          <a:stretch/>
        </p:blipFill>
        <p:spPr>
          <a:xfrm>
            <a:off x="6161815" y="2591247"/>
            <a:ext cx="4490674" cy="352838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EB4B983-C4B0-1991-32F2-26DDED34D081}"/>
              </a:ext>
            </a:extLst>
          </p:cNvPr>
          <p:cNvSpPr txBox="1"/>
          <p:nvPr/>
        </p:nvSpPr>
        <p:spPr>
          <a:xfrm>
            <a:off x="1271464" y="2012999"/>
            <a:ext cx="2783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b="1" dirty="0">
                <a:solidFill>
                  <a:srgbClr val="C00000"/>
                </a:solidFill>
              </a:rPr>
              <a:t>GWL</a:t>
            </a:r>
            <a:r>
              <a:rPr kumimoji="1" lang="zh-TW" altLang="en-US" sz="3200" b="1" dirty="0">
                <a:solidFill>
                  <a:srgbClr val="C00000"/>
                </a:solidFill>
              </a:rPr>
              <a:t>時期版本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23CC60-B85C-A931-FE85-E1F24A453700}"/>
              </a:ext>
            </a:extLst>
          </p:cNvPr>
          <p:cNvSpPr txBox="1"/>
          <p:nvPr/>
        </p:nvSpPr>
        <p:spPr>
          <a:xfrm>
            <a:off x="6550697" y="2012999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b="1" dirty="0">
                <a:solidFill>
                  <a:srgbClr val="C00000"/>
                </a:solidFill>
              </a:rPr>
              <a:t>四個時期版本</a:t>
            </a:r>
          </a:p>
        </p:txBody>
      </p:sp>
    </p:spTree>
    <p:extLst>
      <p:ext uri="{BB962C8B-B14F-4D97-AF65-F5344CB8AC3E}">
        <p14:creationId xmlns:p14="http://schemas.microsoft.com/office/powerpoint/2010/main" val="80369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BA33AD-ABD3-2792-D53E-88ABE933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六、檔案格式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2D4563-C06E-F569-7D1B-A37FD83C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命名：以</a:t>
            </a:r>
            <a:r>
              <a:rPr kumimoji="1" lang="en-US" altLang="zh-TW" dirty="0"/>
              <a:t>TCCIP</a:t>
            </a:r>
            <a:r>
              <a:rPr kumimoji="1" lang="zh-TW" altLang="en-US" dirty="0"/>
              <a:t>資料管理計畫規範</a:t>
            </a:r>
            <a:r>
              <a:rPr kumimoji="1" lang="en-US" altLang="zh-TW" dirty="0"/>
              <a:t>(TCCIP DMP)</a:t>
            </a:r>
            <a:r>
              <a:rPr kumimoji="1" lang="zh-TW" altLang="en-US" dirty="0"/>
              <a:t>命名</a:t>
            </a:r>
            <a:endParaRPr kumimoji="1" lang="en-US" altLang="zh-TW" dirty="0"/>
          </a:p>
          <a:p>
            <a:r>
              <a:rPr kumimoji="1" lang="zh-TW" altLang="en-US" dirty="0"/>
              <a:t>格式：與</a:t>
            </a:r>
            <a:r>
              <a:rPr kumimoji="1" lang="en-US" altLang="zh-TW" dirty="0"/>
              <a:t>TCCIP</a:t>
            </a:r>
            <a:r>
              <a:rPr kumimoji="1" lang="zh-TW" altLang="en-US" dirty="0"/>
              <a:t>資料管理計畫規範</a:t>
            </a:r>
            <a:r>
              <a:rPr kumimoji="1" lang="en-US" altLang="zh-TW" dirty="0"/>
              <a:t>(TCCIP DMP)</a:t>
            </a:r>
            <a:r>
              <a:rPr kumimoji="1" lang="zh-TW" altLang="en-US" dirty="0"/>
              <a:t>格式相同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3EDB40-FDE6-E298-3DD8-C9C35BDE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8" name="圖片 7" descr="一張含有 螢幕擷取畫面, 文字, 軟體, 網頁 的圖片&#10;&#10;自動產生的描述">
            <a:extLst>
              <a:ext uri="{FF2B5EF4-FFF2-40B4-BE49-F238E27FC236}">
                <a16:creationId xmlns:a16="http://schemas.microsoft.com/office/drawing/2014/main" id="{AE8E64BF-79B2-C051-8DA2-B3C4438AC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99" r="68947" b="49624"/>
          <a:stretch/>
        </p:blipFill>
        <p:spPr>
          <a:xfrm>
            <a:off x="6096000" y="4277896"/>
            <a:ext cx="5832648" cy="208823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1203006-4A8A-8992-D170-FC96434BA772}"/>
              </a:ext>
            </a:extLst>
          </p:cNvPr>
          <p:cNvSpPr txBox="1"/>
          <p:nvPr/>
        </p:nvSpPr>
        <p:spPr>
          <a:xfrm>
            <a:off x="8596752" y="3771732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C00000"/>
                </a:solidFill>
              </a:rPr>
              <a:t>1/1~12/31</a:t>
            </a:r>
            <a:endParaRPr kumimoji="1"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C46FE08-FFF0-2AE7-A50F-5D773D9E7E98}"/>
              </a:ext>
            </a:extLst>
          </p:cNvPr>
          <p:cNvSpPr txBox="1"/>
          <p:nvPr/>
        </p:nvSpPr>
        <p:spPr>
          <a:xfrm>
            <a:off x="92906" y="2963437"/>
            <a:ext cx="7582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b="1" dirty="0">
                <a:solidFill>
                  <a:srgbClr val="C00000"/>
                </a:solidFill>
              </a:rPr>
              <a:t>AR6_</a:t>
            </a:r>
            <a:r>
              <a:rPr kumimoji="1" lang="zh-TW" altLang="en-US" sz="2000" b="1" dirty="0">
                <a:solidFill>
                  <a:srgbClr val="C00000"/>
                </a:solidFill>
              </a:rPr>
              <a:t>統計降尺度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_</a:t>
            </a:r>
            <a:r>
              <a:rPr kumimoji="1" lang="zh-TW" altLang="en-US" sz="2000" b="1" dirty="0">
                <a:solidFill>
                  <a:srgbClr val="C00000"/>
                </a:solidFill>
              </a:rPr>
              <a:t>日資料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_</a:t>
            </a:r>
            <a:r>
              <a:rPr kumimoji="1" lang="zh-TW" altLang="en-US" sz="2000" b="1" dirty="0">
                <a:solidFill>
                  <a:srgbClr val="000099"/>
                </a:solidFill>
              </a:rPr>
              <a:t>空間名稱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_</a:t>
            </a:r>
            <a:r>
              <a:rPr kumimoji="1" lang="zh-TW" altLang="en-US" sz="2000" b="1" dirty="0">
                <a:solidFill>
                  <a:srgbClr val="000099"/>
                </a:solidFill>
              </a:rPr>
              <a:t>變數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_</a:t>
            </a:r>
            <a:r>
              <a:rPr kumimoji="1" lang="zh-TW" altLang="en-US" sz="2000" b="1" dirty="0">
                <a:solidFill>
                  <a:srgbClr val="000099"/>
                </a:solidFill>
              </a:rPr>
              <a:t>情境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_</a:t>
            </a:r>
            <a:r>
              <a:rPr kumimoji="1" lang="zh-TW" altLang="en-US" sz="2000" b="1" dirty="0">
                <a:solidFill>
                  <a:srgbClr val="000099"/>
                </a:solidFill>
              </a:rPr>
              <a:t>模式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_</a:t>
            </a:r>
            <a:r>
              <a:rPr kumimoji="1" lang="zh-TW" altLang="en-US" sz="2000" b="1" dirty="0">
                <a:solidFill>
                  <a:srgbClr val="000099"/>
                </a:solidFill>
              </a:rPr>
              <a:t>年份</a:t>
            </a:r>
            <a:r>
              <a:rPr kumimoji="1" lang="en-US" altLang="zh-TW" sz="2000" b="1" dirty="0">
                <a:solidFill>
                  <a:srgbClr val="000099"/>
                </a:solidFill>
              </a:rPr>
              <a:t>.csv</a:t>
            </a:r>
            <a:endParaRPr kumimoji="1" lang="zh-TW" altLang="en-US" sz="2000" b="1" dirty="0">
              <a:solidFill>
                <a:srgbClr val="000099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2C1D13-C5A2-1F30-DBEB-36344F3E394D}"/>
              </a:ext>
            </a:extLst>
          </p:cNvPr>
          <p:cNvSpPr txBox="1"/>
          <p:nvPr/>
        </p:nvSpPr>
        <p:spPr>
          <a:xfrm rot="16200000">
            <a:off x="5389844" y="509117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</a:rPr>
              <a:t>網格點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15CCEE3-9D29-1FE6-F968-F91D45A47C9B}"/>
              </a:ext>
            </a:extLst>
          </p:cNvPr>
          <p:cNvCxnSpPr>
            <a:cxnSpLocks/>
          </p:cNvCxnSpPr>
          <p:nvPr/>
        </p:nvCxnSpPr>
        <p:spPr>
          <a:xfrm>
            <a:off x="8256240" y="3524881"/>
            <a:ext cx="0" cy="70851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76763EB1-5CCF-1E8B-2053-6EDE94146CCA}"/>
              </a:ext>
            </a:extLst>
          </p:cNvPr>
          <p:cNvCxnSpPr>
            <a:cxnSpLocks/>
          </p:cNvCxnSpPr>
          <p:nvPr/>
        </p:nvCxnSpPr>
        <p:spPr>
          <a:xfrm>
            <a:off x="8256240" y="3789040"/>
            <a:ext cx="3326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93708E7-911D-AC93-75AF-A9A95293D12D}"/>
              </a:ext>
            </a:extLst>
          </p:cNvPr>
          <p:cNvSpPr txBox="1"/>
          <p:nvPr/>
        </p:nvSpPr>
        <p:spPr>
          <a:xfrm>
            <a:off x="6482422" y="379315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</a:rPr>
              <a:t>經度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2BA32D8-D374-CA52-6576-37A380823672}"/>
              </a:ext>
            </a:extLst>
          </p:cNvPr>
          <p:cNvSpPr txBox="1"/>
          <p:nvPr/>
        </p:nvSpPr>
        <p:spPr>
          <a:xfrm>
            <a:off x="7392144" y="37719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</a:rPr>
              <a:t>緯度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BD4A413-18DB-EF79-DEEE-0F35A09717A7}"/>
              </a:ext>
            </a:extLst>
          </p:cNvPr>
          <p:cNvSpPr txBox="1"/>
          <p:nvPr/>
        </p:nvSpPr>
        <p:spPr>
          <a:xfrm>
            <a:off x="2495600" y="2420888"/>
            <a:ext cx="1608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檔案命名</a:t>
            </a:r>
            <a:endParaRPr lang="zh-TW" altLang="en-US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143968B-2B14-FDFA-14A1-44BFA2E840CC}"/>
              </a:ext>
            </a:extLst>
          </p:cNvPr>
          <p:cNvSpPr txBox="1"/>
          <p:nvPr/>
        </p:nvSpPr>
        <p:spPr>
          <a:xfrm>
            <a:off x="8260864" y="2425971"/>
            <a:ext cx="1608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檔案格式</a:t>
            </a:r>
            <a:endParaRPr lang="zh-TW" altLang="en-US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0F12D27-01D1-29B9-354A-3B75AABC4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33" y="3344611"/>
            <a:ext cx="4316304" cy="333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70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C69CA-9A16-6D22-A426-EB1555F6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七、縣市鄉鎮區</a:t>
            </a:r>
            <a:r>
              <a:rPr kumimoji="1" lang="en-US" altLang="zh-TW" dirty="0"/>
              <a:t>1km</a:t>
            </a:r>
            <a:r>
              <a:rPr kumimoji="1" lang="zh-TW" altLang="en-US" dirty="0"/>
              <a:t>網格資料 </a:t>
            </a:r>
            <a:r>
              <a:rPr kumimoji="1" lang="en-US" altLang="zh-TW" dirty="0" err="1"/>
              <a:t>grids.csv</a:t>
            </a:r>
            <a:r>
              <a:rPr kumimoji="1" lang="zh-TW" altLang="en-US" dirty="0"/>
              <a:t> 下載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8A49C-0479-C050-A027-FE4DACC1C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104" y="1124745"/>
            <a:ext cx="4550296" cy="5001420"/>
          </a:xfrm>
        </p:spPr>
        <p:txBody>
          <a:bodyPr/>
          <a:lstStyle/>
          <a:p>
            <a:r>
              <a:rPr kumimoji="1" lang="zh-TW" altLang="en-US" dirty="0"/>
              <a:t>網址：</a:t>
            </a:r>
            <a:r>
              <a:rPr kumimoji="1" lang="en" altLang="zh-TW" dirty="0">
                <a:hlinkClick r:id="rId4"/>
              </a:rPr>
              <a:t>https://tedliu13.github.io/tccipgrids/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r>
              <a:rPr kumimoji="1" lang="zh-TW" altLang="en-US" dirty="0"/>
              <a:t>供使用者自行下載各縣市或鄉鎮區的</a:t>
            </a:r>
            <a:r>
              <a:rPr kumimoji="1" lang="en-US" altLang="zh-TW" dirty="0" err="1"/>
              <a:t>grids.csv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C1E6BD-A02E-5FFE-3BC8-4C4ED1C0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螢幕錄影 2025-03-01 上午11.32.56">
            <a:hlinkClick r:id="" action="ppaction://media"/>
            <a:extLst>
              <a:ext uri="{FF2B5EF4-FFF2-40B4-BE49-F238E27FC236}">
                <a16:creationId xmlns:a16="http://schemas.microsoft.com/office/drawing/2014/main" id="{7F18463A-BCEF-F9FE-8166-4D8494BEC9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908720"/>
            <a:ext cx="7338823" cy="5949280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68F0C10E-5264-AABA-7A67-D877AF366E01}"/>
              </a:ext>
            </a:extLst>
          </p:cNvPr>
          <p:cNvGrpSpPr/>
          <p:nvPr/>
        </p:nvGrpSpPr>
        <p:grpSpPr>
          <a:xfrm>
            <a:off x="7504583" y="4233697"/>
            <a:ext cx="3605337" cy="2463926"/>
            <a:chOff x="1559497" y="1067069"/>
            <a:chExt cx="3605337" cy="2463926"/>
          </a:xfrm>
        </p:grpSpPr>
        <p:pic>
          <p:nvPicPr>
            <p:cNvPr id="5" name="內容版面配置區 5" descr="一張含有 文字, 螢幕擷取畫面, 軟體, 陳列 的圖片&#10;&#10;自動產生的描述">
              <a:extLst>
                <a:ext uri="{FF2B5EF4-FFF2-40B4-BE49-F238E27FC236}">
                  <a16:creationId xmlns:a16="http://schemas.microsoft.com/office/drawing/2014/main" id="{12AA5A23-3CF9-1858-8FFF-130ED5818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44" r="61798" b="42204"/>
            <a:stretch/>
          </p:blipFill>
          <p:spPr>
            <a:xfrm>
              <a:off x="2149791" y="1549936"/>
              <a:ext cx="3015043" cy="1837043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BA89E1D-A23A-4B64-A836-11B417BD1BFF}"/>
                </a:ext>
              </a:extLst>
            </p:cNvPr>
            <p:cNvSpPr txBox="1"/>
            <p:nvPr/>
          </p:nvSpPr>
          <p:spPr>
            <a:xfrm rot="16200000">
              <a:off x="1236332" y="2023973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C00000"/>
                  </a:solidFill>
                </a:rPr>
                <a:t>網格點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5341B19-6071-2810-80F8-A826349402F2}"/>
                </a:ext>
              </a:extLst>
            </p:cNvPr>
            <p:cNvSpPr txBox="1"/>
            <p:nvPr/>
          </p:nvSpPr>
          <p:spPr>
            <a:xfrm>
              <a:off x="2567608" y="108827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C00000"/>
                  </a:solidFill>
                </a:rPr>
                <a:t>經度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84C39AE4-3355-6434-72CE-D2F4A26C3471}"/>
                </a:ext>
              </a:extLst>
            </p:cNvPr>
            <p:cNvSpPr txBox="1"/>
            <p:nvPr/>
          </p:nvSpPr>
          <p:spPr>
            <a:xfrm>
              <a:off x="3477330" y="1067069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C00000"/>
                  </a:solidFill>
                </a:rPr>
                <a:t>緯度</a:t>
              </a:r>
            </a:p>
          </p:txBody>
        </p:sp>
        <p:cxnSp>
          <p:nvCxnSpPr>
            <p:cNvPr id="10" name="直線箭頭接點 9">
              <a:extLst>
                <a:ext uri="{FF2B5EF4-FFF2-40B4-BE49-F238E27FC236}">
                  <a16:creationId xmlns:a16="http://schemas.microsoft.com/office/drawing/2014/main" id="{24262AD0-2F13-A76E-F8EF-0836A987223F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>
              <a:off x="1790331" y="2808804"/>
              <a:ext cx="0" cy="7221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067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F85980-F1CD-F1C5-C6FA-FB0FA62C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八、下載中斷時的接續方式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en-US" altLang="zh-TW" dirty="0"/>
              <a:t>GWL</a:t>
            </a:r>
            <a:r>
              <a:rPr kumimoji="1" lang="zh-TW" altLang="en-US" dirty="0"/>
              <a:t>版本為例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72284E51-01C9-68F8-A0A7-C1C1F0954E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056384"/>
              </p:ext>
            </p:extLst>
          </p:nvPr>
        </p:nvGraphicFramePr>
        <p:xfrm>
          <a:off x="609600" y="1125539"/>
          <a:ext cx="10972800" cy="1727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53B25A-246B-48CD-2806-310456F7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7" name="圖片 6" descr="一張含有 文字, 螢幕擷取畫面, 軟體, 電腦圖示 的圖片&#10;&#10;自動產生的描述">
            <a:extLst>
              <a:ext uri="{FF2B5EF4-FFF2-40B4-BE49-F238E27FC236}">
                <a16:creationId xmlns:a16="http://schemas.microsoft.com/office/drawing/2014/main" id="{86671AAA-C3EC-5E47-6A5D-B5D7348EB3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21897" r="43804" b="43840"/>
          <a:stretch/>
        </p:blipFill>
        <p:spPr>
          <a:xfrm>
            <a:off x="119336" y="3467787"/>
            <a:ext cx="4432941" cy="305720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6B1DAC1-454A-F36F-FA8F-5C3FC15CCFE6}"/>
              </a:ext>
            </a:extLst>
          </p:cNvPr>
          <p:cNvSpPr txBox="1"/>
          <p:nvPr/>
        </p:nvSpPr>
        <p:spPr>
          <a:xfrm>
            <a:off x="480170" y="2996952"/>
            <a:ext cx="3207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000" b="1" dirty="0">
                <a:solidFill>
                  <a:srgbClr val="C00000"/>
                </a:solidFill>
              </a:rPr>
              <a:t>中斷在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EC-Earth3_ssp126</a:t>
            </a:r>
            <a:endParaRPr kumimoji="1"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27619015-1C48-CF6C-DFBE-DF55F6B1453D}"/>
              </a:ext>
            </a:extLst>
          </p:cNvPr>
          <p:cNvSpPr/>
          <p:nvPr/>
        </p:nvSpPr>
        <p:spPr>
          <a:xfrm>
            <a:off x="119336" y="6237312"/>
            <a:ext cx="4248472" cy="28767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9447307-F77D-FE6A-D2CE-79F6B3FD8A2C}"/>
              </a:ext>
            </a:extLst>
          </p:cNvPr>
          <p:cNvSpPr txBox="1"/>
          <p:nvPr/>
        </p:nvSpPr>
        <p:spPr>
          <a:xfrm>
            <a:off x="4294035" y="2996952"/>
            <a:ext cx="3231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000" b="1" dirty="0">
                <a:solidFill>
                  <a:srgbClr val="C00000"/>
                </a:solidFill>
              </a:rPr>
              <a:t>修改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GWL-models-</a:t>
            </a:r>
            <a:r>
              <a:rPr kumimoji="1" lang="en-US" altLang="zh-TW" sz="2000" b="1" dirty="0" err="1">
                <a:solidFill>
                  <a:srgbClr val="C00000"/>
                </a:solidFill>
              </a:rPr>
              <a:t>tas.csv</a:t>
            </a:r>
            <a:endParaRPr kumimoji="1" lang="zh-TW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12" name="圖片 11" descr="一張含有 螢幕擷取畫面, 文字, 軟體 的圖片&#10;&#10;自動產生的描述">
            <a:extLst>
              <a:ext uri="{FF2B5EF4-FFF2-40B4-BE49-F238E27FC236}">
                <a16:creationId xmlns:a16="http://schemas.microsoft.com/office/drawing/2014/main" id="{7CCE7D0E-57D0-55AF-9DC9-9A38312F1E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21897" r="57701" b="35274"/>
          <a:stretch/>
        </p:blipFill>
        <p:spPr>
          <a:xfrm>
            <a:off x="4833148" y="3537932"/>
            <a:ext cx="1694899" cy="3026609"/>
          </a:xfrm>
          <a:prstGeom prst="rect">
            <a:avLst/>
          </a:prstGeom>
        </p:spPr>
      </p:pic>
      <p:pic>
        <p:nvPicPr>
          <p:cNvPr id="14" name="圖片 13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DA705164-509F-94C9-23DB-7D44D639069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17" r="60480" b="3921"/>
          <a:stretch/>
        </p:blipFill>
        <p:spPr>
          <a:xfrm>
            <a:off x="7639725" y="3369579"/>
            <a:ext cx="3775519" cy="3363313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08DDC86-8E7E-4B50-2EA4-B9B5614C950B}"/>
              </a:ext>
            </a:extLst>
          </p:cNvPr>
          <p:cNvSpPr txBox="1"/>
          <p:nvPr/>
        </p:nvSpPr>
        <p:spPr>
          <a:xfrm>
            <a:off x="7608168" y="3028890"/>
            <a:ext cx="4233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000" b="1" dirty="0">
                <a:solidFill>
                  <a:srgbClr val="C00000"/>
                </a:solidFill>
              </a:rPr>
              <a:t>刪除</a:t>
            </a:r>
            <a:r>
              <a:rPr kumimoji="1" lang="en-US" altLang="zh-TW" sz="2000" b="1" dirty="0">
                <a:solidFill>
                  <a:srgbClr val="C00000"/>
                </a:solidFill>
              </a:rPr>
              <a:t>EC-Earth3_ssp126</a:t>
            </a:r>
            <a:r>
              <a:rPr kumimoji="1" lang="zh-TW" altLang="en-US" sz="2000" b="1" dirty="0">
                <a:solidFill>
                  <a:srgbClr val="C00000"/>
                </a:solidFill>
              </a:rPr>
              <a:t>前面的項目</a:t>
            </a:r>
          </a:p>
        </p:txBody>
      </p:sp>
      <p:sp>
        <p:nvSpPr>
          <p:cNvPr id="3" name="流程圖: 接點 2">
            <a:extLst>
              <a:ext uri="{FF2B5EF4-FFF2-40B4-BE49-F238E27FC236}">
                <a16:creationId xmlns:a16="http://schemas.microsoft.com/office/drawing/2014/main" id="{CD8B932A-5203-FCD4-8132-3F65B8DFD2CE}"/>
              </a:ext>
            </a:extLst>
          </p:cNvPr>
          <p:cNvSpPr/>
          <p:nvPr/>
        </p:nvSpPr>
        <p:spPr>
          <a:xfrm>
            <a:off x="2270623" y="848601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4F65A94B-BB7E-E2C3-C83C-9CD3FF7DF23E}"/>
              </a:ext>
            </a:extLst>
          </p:cNvPr>
          <p:cNvSpPr/>
          <p:nvPr/>
        </p:nvSpPr>
        <p:spPr>
          <a:xfrm>
            <a:off x="5807968" y="848601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61064ABE-9BFE-55C2-4628-0A3D1CEC2920}"/>
              </a:ext>
            </a:extLst>
          </p:cNvPr>
          <p:cNvSpPr/>
          <p:nvPr/>
        </p:nvSpPr>
        <p:spPr>
          <a:xfrm>
            <a:off x="9222605" y="848601"/>
            <a:ext cx="504056" cy="50405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2628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FB2CF1-60B9-F62E-6908-8833266E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九、注意事項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F69165-791A-BE0B-8EE7-2AF023FC2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" altLang="zh-TW" b="0" dirty="0"/>
              <a:t>TCCIP AR6 1km</a:t>
            </a:r>
            <a:r>
              <a:rPr kumimoji="1" lang="zh-TW" altLang="en-US" b="0" dirty="0"/>
              <a:t>統計降尺度日資料，因解析度高，資料量龐大，需要花費較長時間下載，以桃園為例，共</a:t>
            </a:r>
            <a:r>
              <a:rPr kumimoji="1" lang="en-US" altLang="zh-TW" dirty="0">
                <a:solidFill>
                  <a:srgbClr val="C00000"/>
                </a:solidFill>
              </a:rPr>
              <a:t>1223</a:t>
            </a:r>
            <a:r>
              <a:rPr kumimoji="1" lang="zh-TW" altLang="en-US" dirty="0">
                <a:solidFill>
                  <a:srgbClr val="C00000"/>
                </a:solidFill>
              </a:rPr>
              <a:t>個</a:t>
            </a:r>
            <a:r>
              <a:rPr kumimoji="1" lang="zh-TW" altLang="en-US" b="0" dirty="0"/>
              <a:t>網格，</a:t>
            </a:r>
            <a:r>
              <a:rPr kumimoji="1" lang="en-US" altLang="zh-TW" dirty="0">
                <a:solidFill>
                  <a:srgbClr val="C00000"/>
                </a:solidFill>
              </a:rPr>
              <a:t>2</a:t>
            </a:r>
            <a:r>
              <a:rPr kumimoji="1" lang="zh-TW" altLang="en-US" dirty="0">
                <a:solidFill>
                  <a:srgbClr val="C00000"/>
                </a:solidFill>
              </a:rPr>
              <a:t>度</a:t>
            </a:r>
            <a:r>
              <a:rPr kumimoji="1" lang="en" altLang="zh-TW" dirty="0">
                <a:solidFill>
                  <a:srgbClr val="C00000"/>
                </a:solidFill>
              </a:rPr>
              <a:t>C</a:t>
            </a:r>
            <a:r>
              <a:rPr kumimoji="1" lang="zh-TW" altLang="en-US" b="0" dirty="0"/>
              <a:t>所有模式情境</a:t>
            </a:r>
            <a:r>
              <a:rPr kumimoji="1" lang="en-US" altLang="zh-TW" dirty="0">
                <a:solidFill>
                  <a:srgbClr val="C00000"/>
                </a:solidFill>
              </a:rPr>
              <a:t>86</a:t>
            </a:r>
            <a:r>
              <a:rPr kumimoji="1" lang="zh-TW" altLang="en-US" dirty="0">
                <a:solidFill>
                  <a:srgbClr val="C00000"/>
                </a:solidFill>
              </a:rPr>
              <a:t>組</a:t>
            </a:r>
            <a:r>
              <a:rPr kumimoji="1" lang="zh-TW" altLang="en-US" b="0" dirty="0"/>
              <a:t>，每組</a:t>
            </a:r>
            <a:r>
              <a:rPr kumimoji="1" lang="zh-TW" altLang="en-US" dirty="0">
                <a:solidFill>
                  <a:srgbClr val="C00000"/>
                </a:solidFill>
              </a:rPr>
              <a:t>各</a:t>
            </a:r>
            <a:r>
              <a:rPr kumimoji="1" lang="en-US" altLang="zh-TW" dirty="0">
                <a:solidFill>
                  <a:srgbClr val="C00000"/>
                </a:solidFill>
              </a:rPr>
              <a:t>20</a:t>
            </a:r>
            <a:r>
              <a:rPr kumimoji="1" lang="zh-TW" altLang="en-US" dirty="0">
                <a:solidFill>
                  <a:srgbClr val="C00000"/>
                </a:solidFill>
              </a:rPr>
              <a:t>年</a:t>
            </a:r>
            <a:r>
              <a:rPr kumimoji="1" lang="zh-TW" altLang="en-US" b="0" dirty="0"/>
              <a:t>，共</a:t>
            </a:r>
            <a:r>
              <a:rPr kumimoji="1" lang="en-US" altLang="zh-TW" dirty="0">
                <a:solidFill>
                  <a:srgbClr val="C00000"/>
                </a:solidFill>
              </a:rPr>
              <a:t>1720</a:t>
            </a:r>
            <a:r>
              <a:rPr kumimoji="1" lang="zh-TW" altLang="en-US" dirty="0">
                <a:solidFill>
                  <a:srgbClr val="C00000"/>
                </a:solidFill>
              </a:rPr>
              <a:t>組</a:t>
            </a:r>
            <a:r>
              <a:rPr kumimoji="1" lang="zh-TW" altLang="en-US" b="0" dirty="0"/>
              <a:t>資料，處理加下載時間約</a:t>
            </a:r>
            <a:r>
              <a:rPr kumimoji="1" lang="en-US" altLang="zh-TW" dirty="0">
                <a:solidFill>
                  <a:srgbClr val="C00000"/>
                </a:solidFill>
              </a:rPr>
              <a:t>4~8</a:t>
            </a:r>
            <a:r>
              <a:rPr kumimoji="1" lang="zh-TW" altLang="en-US" dirty="0">
                <a:solidFill>
                  <a:srgbClr val="C00000"/>
                </a:solidFill>
              </a:rPr>
              <a:t>小時</a:t>
            </a:r>
            <a:r>
              <a:rPr kumimoji="1" lang="zh-TW" altLang="en-US" b="0" dirty="0"/>
              <a:t>，敬請做好準備與耐心等候</a:t>
            </a:r>
            <a:endParaRPr kumimoji="1" lang="en-US" altLang="zh-TW" b="0" dirty="0"/>
          </a:p>
          <a:p>
            <a:r>
              <a:rPr kumimoji="1" lang="zh-TW" altLang="en-US" dirty="0">
                <a:solidFill>
                  <a:srgbClr val="C00000"/>
                </a:solidFill>
              </a:rPr>
              <a:t>空間</a:t>
            </a:r>
            <a:r>
              <a:rPr kumimoji="1" lang="zh-TW" altLang="en-US" b="0" dirty="0"/>
              <a:t>範圍</a:t>
            </a:r>
            <a:r>
              <a:rPr kumimoji="1" lang="zh-TW" altLang="en-US" dirty="0">
                <a:solidFill>
                  <a:srgbClr val="C00000"/>
                </a:solidFill>
              </a:rPr>
              <a:t>越大</a:t>
            </a:r>
            <a:r>
              <a:rPr kumimoji="1" lang="zh-TW" altLang="en-US" b="0" dirty="0"/>
              <a:t>，下載時需要</a:t>
            </a:r>
            <a:r>
              <a:rPr kumimoji="1" lang="zh-TW" altLang="en-US" dirty="0">
                <a:solidFill>
                  <a:srgbClr val="C00000"/>
                </a:solidFill>
              </a:rPr>
              <a:t>越多記憶體</a:t>
            </a:r>
            <a:r>
              <a:rPr kumimoji="1" lang="zh-TW" altLang="en-US" b="0" dirty="0"/>
              <a:t>，以桃園</a:t>
            </a:r>
            <a:r>
              <a:rPr kumimoji="1" lang="en-US" altLang="zh-TW" dirty="0">
                <a:solidFill>
                  <a:srgbClr val="C00000"/>
                </a:solidFill>
              </a:rPr>
              <a:t>1223</a:t>
            </a:r>
            <a:r>
              <a:rPr kumimoji="1" lang="zh-TW" altLang="en-US" dirty="0">
                <a:solidFill>
                  <a:srgbClr val="C00000"/>
                </a:solidFill>
              </a:rPr>
              <a:t>個</a:t>
            </a:r>
            <a:r>
              <a:rPr kumimoji="1" lang="zh-TW" altLang="en-US" b="0" dirty="0"/>
              <a:t>網格而言，下載期間需要占用約</a:t>
            </a:r>
            <a:r>
              <a:rPr kumimoji="1" lang="en-US" altLang="zh-TW" dirty="0">
                <a:solidFill>
                  <a:srgbClr val="C00000"/>
                </a:solidFill>
              </a:rPr>
              <a:t>15G</a:t>
            </a:r>
            <a:r>
              <a:rPr kumimoji="1" lang="zh-TW" altLang="en-US" b="0" dirty="0"/>
              <a:t>的記憶體，建議可以</a:t>
            </a:r>
            <a:r>
              <a:rPr kumimoji="1" lang="zh-TW" altLang="en-US" dirty="0">
                <a:solidFill>
                  <a:srgbClr val="C00000"/>
                </a:solidFill>
              </a:rPr>
              <a:t>多次</a:t>
            </a:r>
            <a:r>
              <a:rPr kumimoji="1" lang="zh-TW" altLang="en-US" b="0" dirty="0"/>
              <a:t>下載小空間資料，再以</a:t>
            </a:r>
            <a:r>
              <a:rPr lang="en-US" altLang="zh-TW" u="sng" dirty="0">
                <a:hlinkClick r:id="rId2"/>
              </a:rPr>
              <a:t>AR6</a:t>
            </a:r>
            <a:r>
              <a:rPr lang="zh-TW" altLang="en-US" u="sng" dirty="0">
                <a:hlinkClick r:id="rId2"/>
              </a:rPr>
              <a:t>統計降尺度資料合併工具</a:t>
            </a:r>
            <a:r>
              <a:rPr kumimoji="1" lang="zh-TW" altLang="en-US" b="0" dirty="0"/>
              <a:t>進行合併</a:t>
            </a:r>
            <a:endParaRPr kumimoji="1" lang="en-US" altLang="zh-TW" b="0" dirty="0"/>
          </a:p>
          <a:p>
            <a:r>
              <a:rPr kumimoji="1" lang="zh-TW" altLang="en-US" b="0" dirty="0"/>
              <a:t>若要下載</a:t>
            </a:r>
            <a:r>
              <a:rPr kumimoji="1" lang="zh-TW" altLang="en-US" dirty="0">
                <a:solidFill>
                  <a:srgbClr val="C00000"/>
                </a:solidFill>
              </a:rPr>
              <a:t>整個台灣</a:t>
            </a:r>
            <a:r>
              <a:rPr kumimoji="1" lang="zh-TW" altLang="en-US" b="0" dirty="0"/>
              <a:t>的資料，建議改用</a:t>
            </a:r>
            <a:r>
              <a:rPr kumimoji="1" lang="en-US" altLang="zh-TW" dirty="0">
                <a:solidFill>
                  <a:srgbClr val="C00000"/>
                </a:solidFill>
              </a:rPr>
              <a:t>0.05</a:t>
            </a:r>
            <a:r>
              <a:rPr kumimoji="1" lang="zh-TW" altLang="en-US" dirty="0">
                <a:solidFill>
                  <a:srgbClr val="C00000"/>
                </a:solidFill>
              </a:rPr>
              <a:t>度</a:t>
            </a:r>
            <a:r>
              <a:rPr kumimoji="1" lang="zh-TW" altLang="en-US" b="0" dirty="0"/>
              <a:t>資料</a:t>
            </a:r>
            <a:endParaRPr kumimoji="1" lang="en-US" altLang="zh-TW" dirty="0">
              <a:solidFill>
                <a:srgbClr val="C00000"/>
              </a:solidFill>
            </a:endParaRPr>
          </a:p>
          <a:p>
            <a:r>
              <a:rPr kumimoji="1" lang="zh-TW" altLang="en-US" b="0" dirty="0"/>
              <a:t>此工具需要</a:t>
            </a:r>
            <a:r>
              <a:rPr kumimoji="1" lang="zh-TW" altLang="en-US" dirty="0">
                <a:solidFill>
                  <a:srgbClr val="C00000"/>
                </a:solidFill>
              </a:rPr>
              <a:t>雲端金鑰</a:t>
            </a:r>
            <a:r>
              <a:rPr kumimoji="1" lang="zh-TW" altLang="en-US" b="0" dirty="0"/>
              <a:t>，請跟</a:t>
            </a:r>
            <a:r>
              <a:rPr kumimoji="1" lang="zh-TW" altLang="en-US" dirty="0">
                <a:solidFill>
                  <a:srgbClr val="C00000"/>
                </a:solidFill>
              </a:rPr>
              <a:t>子明</a:t>
            </a:r>
            <a:r>
              <a:rPr kumimoji="1" lang="zh-TW" altLang="en-US" b="0" dirty="0"/>
              <a:t>提出</a:t>
            </a:r>
            <a:r>
              <a:rPr kumimoji="1" lang="zh-TW" altLang="en-US" dirty="0">
                <a:solidFill>
                  <a:srgbClr val="C00000"/>
                </a:solidFill>
              </a:rPr>
              <a:t>申請</a:t>
            </a:r>
            <a:endParaRPr kumimoji="1" lang="en-US" altLang="zh-TW" b="0" dirty="0"/>
          </a:p>
          <a:p>
            <a:r>
              <a:rPr kumimoji="1" lang="zh-TW" altLang="en-US" b="0" dirty="0"/>
              <a:t>若您需要</a:t>
            </a:r>
            <a:r>
              <a:rPr kumimoji="1" lang="zh-TW" altLang="en-US" dirty="0">
                <a:solidFill>
                  <a:srgbClr val="C00000"/>
                </a:solidFill>
              </a:rPr>
              <a:t>不同的下載格點</a:t>
            </a:r>
            <a:r>
              <a:rPr kumimoji="1" lang="zh-TW" altLang="en-US" b="0" dirty="0"/>
              <a:t>，請修改</a:t>
            </a:r>
            <a:r>
              <a:rPr kumimoji="1" lang="en" altLang="zh-TW" dirty="0">
                <a:solidFill>
                  <a:srgbClr val="C00000"/>
                </a:solidFill>
              </a:rPr>
              <a:t>grids.csv</a:t>
            </a:r>
            <a:r>
              <a:rPr kumimoji="1" lang="zh-TW" altLang="en-US" b="0" dirty="0"/>
              <a:t>或將</a:t>
            </a:r>
            <a:r>
              <a:rPr kumimoji="1" lang="zh-TW" altLang="en-US" dirty="0">
                <a:solidFill>
                  <a:srgbClr val="C00000"/>
                </a:solidFill>
              </a:rPr>
              <a:t>不同縣市鄉鎮區</a:t>
            </a:r>
            <a:r>
              <a:rPr kumimoji="1" lang="zh-TW" altLang="en-US" b="0" dirty="0"/>
              <a:t>的格點檔案置換成</a:t>
            </a:r>
            <a:r>
              <a:rPr kumimoji="1" lang="en" altLang="zh-TW" dirty="0">
                <a:solidFill>
                  <a:srgbClr val="C00000"/>
                </a:solidFill>
              </a:rPr>
              <a:t>grids.csv</a:t>
            </a:r>
            <a:r>
              <a:rPr kumimoji="1" lang="zh-TW" altLang="en-US" b="0" dirty="0"/>
              <a:t>即可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45E8FB-A016-7C50-F9CC-F192A19A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507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138C6C-9505-1FE3-1C46-3B1A2B5F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20F12317-C528-83D6-0320-EE5B0AB7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TCCIP 1km </a:t>
            </a:r>
            <a:r>
              <a:rPr kumimoji="1" lang="zh-TW" altLang="en-US" dirty="0"/>
              <a:t>網格產生器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8E6DC15F-443F-76FA-F805-DF78A15A7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2582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681146C-AF3F-D3C4-4F54-4376864E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目的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D06EE66-3355-5955-9EB4-52DB69DCE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提供客製化空間之資料下載需求，利用圖層套疊方式，產生「</a:t>
            </a:r>
            <a:r>
              <a:rPr kumimoji="1" lang="en-US" altLang="zh-TW" sz="3200" dirty="0"/>
              <a:t>AR6 1km </a:t>
            </a:r>
            <a:r>
              <a:rPr kumimoji="1" lang="zh-TW" altLang="en-US" sz="3200" dirty="0"/>
              <a:t>統計降尺度日資料雲端下載工具」所需要的</a:t>
            </a:r>
            <a:r>
              <a:rPr lang="en-US" altLang="zh-TW" dirty="0"/>
              <a:t>1km</a:t>
            </a:r>
            <a:r>
              <a:rPr lang="zh-TW" altLang="en-US" dirty="0"/>
              <a:t>網格檔</a:t>
            </a:r>
            <a:r>
              <a:rPr lang="en-US" altLang="zh-TW" dirty="0" err="1"/>
              <a:t>grids.csv</a:t>
            </a:r>
            <a:endParaRPr kumimoji="1" lang="en-US" altLang="zh-TW" sz="3200" dirty="0"/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9D6BA92-2E73-1A50-83CB-47030F3F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7" name="圖片 6" descr="一張含有 地圖 的圖片&#10;&#10;自動產生的描述">
            <a:extLst>
              <a:ext uri="{FF2B5EF4-FFF2-40B4-BE49-F238E27FC236}">
                <a16:creationId xmlns:a16="http://schemas.microsoft.com/office/drawing/2014/main" id="{41A3A0C0-3610-5C98-C4C6-69790C458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303" y="2680580"/>
            <a:ext cx="3459698" cy="3194330"/>
          </a:xfrm>
          <a:prstGeom prst="rect">
            <a:avLst/>
          </a:prstGeom>
        </p:spPr>
      </p:pic>
      <p:pic>
        <p:nvPicPr>
          <p:cNvPr id="8" name="圖片 7" descr="一張含有 地圖 的圖片&#10;&#10;自動產生的描述">
            <a:extLst>
              <a:ext uri="{FF2B5EF4-FFF2-40B4-BE49-F238E27FC236}">
                <a16:creationId xmlns:a16="http://schemas.microsoft.com/office/drawing/2014/main" id="{FBF468DE-82AC-C68B-CF5D-4EE185CD9C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76" y="2899954"/>
            <a:ext cx="3459698" cy="2966529"/>
          </a:xfrm>
          <a:prstGeom prst="rect">
            <a:avLst/>
          </a:prstGeom>
        </p:spPr>
      </p:pic>
      <p:sp>
        <p:nvSpPr>
          <p:cNvPr id="9" name="向右箭號 8">
            <a:extLst>
              <a:ext uri="{FF2B5EF4-FFF2-40B4-BE49-F238E27FC236}">
                <a16:creationId xmlns:a16="http://schemas.microsoft.com/office/drawing/2014/main" id="{1E06768D-45EA-F223-D964-718FB2A30B2D}"/>
              </a:ext>
            </a:extLst>
          </p:cNvPr>
          <p:cNvSpPr/>
          <p:nvPr/>
        </p:nvSpPr>
        <p:spPr>
          <a:xfrm>
            <a:off x="5294017" y="4038621"/>
            <a:ext cx="864096" cy="79208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1683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0468A-D14C-078C-F3E4-2E6B0A95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嘉義落花生圖層範例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56ED46-4CAD-067C-C759-04F7EECC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6" name="圖片 5" descr="一張含有 文字, 螢幕擷取畫面, 圖表, 地圖 的圖片&#10;&#10;AI 產生的內容可能不正確。">
            <a:extLst>
              <a:ext uri="{FF2B5EF4-FFF2-40B4-BE49-F238E27FC236}">
                <a16:creationId xmlns:a16="http://schemas.microsoft.com/office/drawing/2014/main" id="{CF8D2AE0-28B1-1095-91A3-CC9D2D92E7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8" t="12435" r="26966" b="2957"/>
          <a:stretch/>
        </p:blipFill>
        <p:spPr>
          <a:xfrm>
            <a:off x="983432" y="1035037"/>
            <a:ext cx="4176464" cy="5544617"/>
          </a:xfrm>
          <a:prstGeom prst="rect">
            <a:avLst/>
          </a:prstGeom>
        </p:spPr>
      </p:pic>
      <p:pic>
        <p:nvPicPr>
          <p:cNvPr id="8" name="圖片 7" descr="一張含有 文字, 圖表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BB168F92-1047-8A21-285C-E20ECB4E4B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88" t="12640" r="26966" b="2751"/>
          <a:stretch/>
        </p:blipFill>
        <p:spPr>
          <a:xfrm>
            <a:off x="6312024" y="994297"/>
            <a:ext cx="4248472" cy="5544616"/>
          </a:xfrm>
          <a:prstGeom prst="rect">
            <a:avLst/>
          </a:prstGeom>
        </p:spPr>
      </p:pic>
      <p:sp>
        <p:nvSpPr>
          <p:cNvPr id="13" name="向右箭號 8">
            <a:extLst>
              <a:ext uri="{FF2B5EF4-FFF2-40B4-BE49-F238E27FC236}">
                <a16:creationId xmlns:a16="http://schemas.microsoft.com/office/drawing/2014/main" id="{F2AA788A-96D4-BB06-2AEC-D07DC25CF177}"/>
              </a:ext>
            </a:extLst>
          </p:cNvPr>
          <p:cNvSpPr/>
          <p:nvPr/>
        </p:nvSpPr>
        <p:spPr>
          <a:xfrm>
            <a:off x="5303912" y="3284984"/>
            <a:ext cx="864096" cy="79208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0638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A1D77AD-34F3-3FF6-5F78-3191E92C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一、工具內容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57B3CA6-C6BC-B3D2-F9E9-E23EE5F6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396C415-4169-672A-A975-93156B2C3FDB}"/>
              </a:ext>
            </a:extLst>
          </p:cNvPr>
          <p:cNvSpPr/>
          <p:nvPr/>
        </p:nvSpPr>
        <p:spPr>
          <a:xfrm>
            <a:off x="6678681" y="242088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右大括弧 7">
            <a:extLst>
              <a:ext uri="{FF2B5EF4-FFF2-40B4-BE49-F238E27FC236}">
                <a16:creationId xmlns:a16="http://schemas.microsoft.com/office/drawing/2014/main" id="{06CD37A2-2C62-3B1B-FE5C-432B76A6B0EB}"/>
              </a:ext>
            </a:extLst>
          </p:cNvPr>
          <p:cNvSpPr/>
          <p:nvPr/>
        </p:nvSpPr>
        <p:spPr>
          <a:xfrm flipH="1">
            <a:off x="7122415" y="1340768"/>
            <a:ext cx="341736" cy="22322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2E8C7DA-0247-DFAE-CC24-FF26700C858D}"/>
              </a:ext>
            </a:extLst>
          </p:cNvPr>
          <p:cNvSpPr txBox="1"/>
          <p:nvPr/>
        </p:nvSpPr>
        <p:spPr>
          <a:xfrm>
            <a:off x="2141403" y="2200508"/>
            <a:ext cx="43874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客製化範例的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shapefile</a:t>
            </a:r>
          </a:p>
        </p:txBody>
      </p:sp>
      <p:sp>
        <p:nvSpPr>
          <p:cNvPr id="10" name="右大括弧 9">
            <a:extLst>
              <a:ext uri="{FF2B5EF4-FFF2-40B4-BE49-F238E27FC236}">
                <a16:creationId xmlns:a16="http://schemas.microsoft.com/office/drawing/2014/main" id="{84BBFAF5-C82A-8170-A9F2-92A7CB50AA17}"/>
              </a:ext>
            </a:extLst>
          </p:cNvPr>
          <p:cNvSpPr/>
          <p:nvPr/>
        </p:nvSpPr>
        <p:spPr>
          <a:xfrm flipH="1">
            <a:off x="7122415" y="3639242"/>
            <a:ext cx="341736" cy="3600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F6E0DF9-62FF-4724-4C13-2E4243570A20}"/>
              </a:ext>
            </a:extLst>
          </p:cNvPr>
          <p:cNvSpPr/>
          <p:nvPr/>
        </p:nvSpPr>
        <p:spPr>
          <a:xfrm>
            <a:off x="6685707" y="3739651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26FF4C-DBAE-E963-CC00-00B9AAD4AD56}"/>
              </a:ext>
            </a:extLst>
          </p:cNvPr>
          <p:cNvSpPr txBox="1"/>
          <p:nvPr/>
        </p:nvSpPr>
        <p:spPr>
          <a:xfrm>
            <a:off x="5069586" y="3519271"/>
            <a:ext cx="1466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執行檔</a:t>
            </a:r>
            <a:endParaRPr kumimoji="1" lang="en-US" altLang="zh-TW" sz="32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F72788ED-7F00-7E4C-D60E-13F3156040C8}"/>
              </a:ext>
            </a:extLst>
          </p:cNvPr>
          <p:cNvSpPr/>
          <p:nvPr/>
        </p:nvSpPr>
        <p:spPr>
          <a:xfrm>
            <a:off x="6678681" y="530556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右大括弧 13">
            <a:extLst>
              <a:ext uri="{FF2B5EF4-FFF2-40B4-BE49-F238E27FC236}">
                <a16:creationId xmlns:a16="http://schemas.microsoft.com/office/drawing/2014/main" id="{8F222753-E9B1-5E7D-F5AD-926914E0F15D}"/>
              </a:ext>
            </a:extLst>
          </p:cNvPr>
          <p:cNvSpPr/>
          <p:nvPr/>
        </p:nvSpPr>
        <p:spPr>
          <a:xfrm flipH="1">
            <a:off x="7122414" y="4489457"/>
            <a:ext cx="341736" cy="17478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A6A5A80-401D-D780-FA34-4B0BD6302D97}"/>
              </a:ext>
            </a:extLst>
          </p:cNvPr>
          <p:cNvSpPr txBox="1"/>
          <p:nvPr/>
        </p:nvSpPr>
        <p:spPr>
          <a:xfrm>
            <a:off x="911424" y="5085184"/>
            <a:ext cx="56115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全台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1km</a:t>
            </a:r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網格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shapefile(</a:t>
            </a:r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內定檔</a:t>
            </a:r>
            <a:r>
              <a:rPr kumimoji="1" lang="en-US" altLang="zh-TW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08F0A78-E280-D526-6C0E-78204D69C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42" t="22700" r="47873" b="21650"/>
          <a:stretch/>
        </p:blipFill>
        <p:spPr>
          <a:xfrm>
            <a:off x="7680176" y="964176"/>
            <a:ext cx="2304256" cy="5815503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6A0571BC-3F65-7958-BC0D-E5CCE47AA230}"/>
              </a:ext>
            </a:extLst>
          </p:cNvPr>
          <p:cNvSpPr txBox="1"/>
          <p:nvPr/>
        </p:nvSpPr>
        <p:spPr>
          <a:xfrm>
            <a:off x="5088662" y="3999283"/>
            <a:ext cx="1434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說明檔</a:t>
            </a:r>
            <a:endParaRPr kumimoji="1" lang="en-US" altLang="zh-TW" sz="32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右大括弧 18">
            <a:extLst>
              <a:ext uri="{FF2B5EF4-FFF2-40B4-BE49-F238E27FC236}">
                <a16:creationId xmlns:a16="http://schemas.microsoft.com/office/drawing/2014/main" id="{1202C9DB-414F-734B-F0A5-5693F180AD35}"/>
              </a:ext>
            </a:extLst>
          </p:cNvPr>
          <p:cNvSpPr/>
          <p:nvPr/>
        </p:nvSpPr>
        <p:spPr>
          <a:xfrm flipH="1">
            <a:off x="7145754" y="4035049"/>
            <a:ext cx="288032" cy="4186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76FCDBFE-B4B3-A1B6-8583-3DA5A2F44B3B}"/>
              </a:ext>
            </a:extLst>
          </p:cNvPr>
          <p:cNvSpPr/>
          <p:nvPr/>
        </p:nvSpPr>
        <p:spPr>
          <a:xfrm>
            <a:off x="6685707" y="418707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1844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99CDE8-CE42-522E-2315-BEC1029F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二、執行步驟</a:t>
            </a:r>
            <a:r>
              <a:rPr kumimoji="1" lang="en-US" altLang="zh-TW" dirty="0"/>
              <a:t>(1/4)</a:t>
            </a:r>
            <a:endParaRPr kumimoji="1" lang="zh-TW" altLang="en-US" dirty="0"/>
          </a:p>
        </p:txBody>
      </p:sp>
      <p:pic>
        <p:nvPicPr>
          <p:cNvPr id="6" name="內容版面配置區 5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23524AAA-B6AB-BBBF-57F1-6DF3F3962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69" y="1989000"/>
            <a:ext cx="4716735" cy="28800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030644-7C4E-075A-92F0-8DB7D1AD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6415221-4FE2-A5BE-19CC-3CD80AD3B17C}"/>
              </a:ext>
            </a:extLst>
          </p:cNvPr>
          <p:cNvSpPr txBox="1">
            <a:spLocks/>
          </p:cNvSpPr>
          <p:nvPr/>
        </p:nvSpPr>
        <p:spPr>
          <a:xfrm>
            <a:off x="609600" y="1124745"/>
            <a:ext cx="10972800" cy="500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 sz="32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dirty="0"/>
              <a:t>1. </a:t>
            </a:r>
            <a:r>
              <a:rPr kumimoji="1" lang="zh-TW" altLang="en-US" dirty="0"/>
              <a:t>點擊 “選擇圖層”</a:t>
            </a:r>
          </a:p>
        </p:txBody>
      </p:sp>
    </p:spTree>
    <p:extLst>
      <p:ext uri="{BB962C8B-B14F-4D97-AF65-F5344CB8AC3E}">
        <p14:creationId xmlns:p14="http://schemas.microsoft.com/office/powerpoint/2010/main" val="74340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40912-FEBC-6112-67A9-FD401B5C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二、執行步驟</a:t>
            </a:r>
            <a:r>
              <a:rPr kumimoji="1" lang="en-US" altLang="zh-TW" dirty="0"/>
              <a:t>(2/4)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E38871-407A-2906-F411-C2157B89F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2. </a:t>
            </a:r>
            <a:r>
              <a:rPr kumimoji="1" lang="zh-TW" altLang="en-US" dirty="0"/>
              <a:t>選擇欲客製化空間的</a:t>
            </a:r>
            <a:r>
              <a:rPr kumimoji="1" lang="en-US" altLang="zh-TW" dirty="0"/>
              <a:t>shapefile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29FFAC-90F8-28EF-CF7F-AA4082C0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6" name="圖片 5" descr="一張含有 文字, 軟體, 電腦圖示, 網頁 的圖片&#10;&#10;自動產生的描述">
            <a:extLst>
              <a:ext uri="{FF2B5EF4-FFF2-40B4-BE49-F238E27FC236}">
                <a16:creationId xmlns:a16="http://schemas.microsoft.com/office/drawing/2014/main" id="{DAA928B0-76BE-376B-9C73-F5E1BAC45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1733299"/>
            <a:ext cx="8640960" cy="486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5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E79273-DE70-B0D2-4AB8-15314294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二、執行步驟</a:t>
            </a:r>
            <a:r>
              <a:rPr kumimoji="1" lang="en-US" altLang="zh-TW" dirty="0"/>
              <a:t>(3/4)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48070E-7674-BEAC-7E78-463643251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3. </a:t>
            </a:r>
            <a:r>
              <a:rPr kumimoji="1" lang="zh-TW" altLang="en-US" dirty="0"/>
              <a:t>點擊 “開始產生”便開始執行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29FD20-DE60-8690-633C-A0AC910A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6" name="圖片 5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550EEB0C-F34F-B1D5-EE99-C561FB453A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69" y="1989000"/>
            <a:ext cx="471673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58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0AF16-DEF1-9CCD-379B-E04663C2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二、執行步驟</a:t>
            </a:r>
            <a:r>
              <a:rPr kumimoji="1" lang="en-US" altLang="zh-TW" dirty="0"/>
              <a:t>(4/4)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6ADE3C-2B49-8D2A-4F6B-5E557E797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4. </a:t>
            </a:r>
            <a:r>
              <a:rPr kumimoji="1" lang="zh-TW" altLang="en-US" dirty="0"/>
              <a:t>底下訊息出現 “處理完成”即可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EB924-F203-C168-7D37-3507675A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6" name="圖片 5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90913DDC-617D-ECD2-E89E-B9708A962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69" y="1989000"/>
            <a:ext cx="471673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06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B931A5-9631-BBF4-B139-8426A495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三、產生的網格檔案</a:t>
            </a:r>
          </a:p>
        </p:txBody>
      </p:sp>
      <p:pic>
        <p:nvPicPr>
          <p:cNvPr id="6" name="內容版面配置區 5" descr="一張含有 螢幕擷取畫面, 文字, 軟體 的圖片&#10;&#10;自動產生的描述">
            <a:extLst>
              <a:ext uri="{FF2B5EF4-FFF2-40B4-BE49-F238E27FC236}">
                <a16:creationId xmlns:a16="http://schemas.microsoft.com/office/drawing/2014/main" id="{8ED47769-B4AF-9BB0-0354-F3C2471FA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4" t="47505" r="57787" b="25136"/>
          <a:stretch/>
        </p:blipFill>
        <p:spPr>
          <a:xfrm>
            <a:off x="7077585" y="1618393"/>
            <a:ext cx="3698935" cy="439248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5821F4-235E-2312-9304-1CD783DC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7" name="右大括弧 6">
            <a:extLst>
              <a:ext uri="{FF2B5EF4-FFF2-40B4-BE49-F238E27FC236}">
                <a16:creationId xmlns:a16="http://schemas.microsoft.com/office/drawing/2014/main" id="{10F91389-A4D2-622C-7479-A36CCE2B4A4E}"/>
              </a:ext>
            </a:extLst>
          </p:cNvPr>
          <p:cNvSpPr/>
          <p:nvPr/>
        </p:nvSpPr>
        <p:spPr>
          <a:xfrm flipH="1">
            <a:off x="6704071" y="1802203"/>
            <a:ext cx="341736" cy="3600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CB7B49D-03D1-B3B2-FFF0-24075D98EF07}"/>
              </a:ext>
            </a:extLst>
          </p:cNvPr>
          <p:cNvSpPr/>
          <p:nvPr/>
        </p:nvSpPr>
        <p:spPr>
          <a:xfrm>
            <a:off x="6267363" y="19026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ECA882D-44FC-FDD0-7EC6-389A8F7C7B8F}"/>
              </a:ext>
            </a:extLst>
          </p:cNvPr>
          <p:cNvSpPr/>
          <p:nvPr/>
        </p:nvSpPr>
        <p:spPr>
          <a:xfrm>
            <a:off x="6267363" y="4317831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右大括弧 10">
            <a:extLst>
              <a:ext uri="{FF2B5EF4-FFF2-40B4-BE49-F238E27FC236}">
                <a16:creationId xmlns:a16="http://schemas.microsoft.com/office/drawing/2014/main" id="{8EC06C56-7365-B690-E74A-A71E036B8D5E}"/>
              </a:ext>
            </a:extLst>
          </p:cNvPr>
          <p:cNvSpPr/>
          <p:nvPr/>
        </p:nvSpPr>
        <p:spPr>
          <a:xfrm flipH="1">
            <a:off x="6693678" y="2928832"/>
            <a:ext cx="341734" cy="29484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E4CFBFD-A859-C36B-24CF-EE5A32027AE2}"/>
              </a:ext>
            </a:extLst>
          </p:cNvPr>
          <p:cNvSpPr txBox="1"/>
          <p:nvPr/>
        </p:nvSpPr>
        <p:spPr>
          <a:xfrm>
            <a:off x="380841" y="4071977"/>
            <a:ext cx="5844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/>
              <a:t>客製化空間的</a:t>
            </a:r>
            <a:r>
              <a:rPr kumimoji="1" lang="en-US" altLang="zh-TW" sz="3200" dirty="0"/>
              <a:t>1km</a:t>
            </a:r>
            <a:r>
              <a:rPr kumimoji="1" lang="zh-TW" altLang="en-US" sz="3200" dirty="0"/>
              <a:t>網格</a:t>
            </a:r>
            <a:r>
              <a:rPr kumimoji="1" lang="en-US" altLang="zh-TW" sz="3200" dirty="0"/>
              <a:t>shapefile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FF5CB77-3CA6-493C-4CF8-CA2B3792EAEA}"/>
              </a:ext>
            </a:extLst>
          </p:cNvPr>
          <p:cNvSpPr txBox="1"/>
          <p:nvPr/>
        </p:nvSpPr>
        <p:spPr>
          <a:xfrm>
            <a:off x="449608" y="1216363"/>
            <a:ext cx="58443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3200" dirty="0"/>
              <a:t>客製化空間的</a:t>
            </a:r>
            <a:r>
              <a:rPr kumimoji="1" lang="en-US" altLang="zh-TW" sz="3200" dirty="0"/>
              <a:t>1km</a:t>
            </a:r>
            <a:r>
              <a:rPr kumimoji="1" lang="zh-TW" altLang="en-US" sz="3200" dirty="0"/>
              <a:t>網格檔</a:t>
            </a:r>
            <a:endParaRPr kumimoji="1" lang="en-US" altLang="zh-TW" sz="3200" dirty="0"/>
          </a:p>
          <a:p>
            <a:r>
              <a:rPr kumimoji="1" lang="en-US" altLang="zh-TW" sz="3200" dirty="0"/>
              <a:t>(</a:t>
            </a:r>
            <a:r>
              <a:rPr kumimoji="1" lang="zh-TW" altLang="en-US" sz="3200" dirty="0"/>
              <a:t>給</a:t>
            </a:r>
            <a:r>
              <a:rPr kumimoji="1" lang="en-US" altLang="zh-TW" sz="3200" dirty="0"/>
              <a:t>AR6 1km </a:t>
            </a:r>
            <a:r>
              <a:rPr kumimoji="1" lang="zh-TW" altLang="en-US" sz="3200" dirty="0"/>
              <a:t>統計降尺度日資料</a:t>
            </a:r>
            <a:endParaRPr kumimoji="1" lang="en-US" altLang="zh-TW" sz="3200" dirty="0"/>
          </a:p>
          <a:p>
            <a:r>
              <a:rPr kumimoji="1" lang="zh-TW" altLang="en-US" sz="3200" dirty="0"/>
              <a:t>雲端下載工具使用</a:t>
            </a:r>
            <a:r>
              <a:rPr kumimoji="1" lang="en-US" altLang="zh-TW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0714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C04782-BEC6-9A0E-6D77-FAF0E229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四、</a:t>
            </a:r>
            <a:r>
              <a:rPr kumimoji="1" lang="en-US" altLang="zh-TW" dirty="0" err="1"/>
              <a:t>grids.csv</a:t>
            </a:r>
            <a:r>
              <a:rPr kumimoji="1" lang="zh-TW" altLang="en-US" dirty="0"/>
              <a:t>格式</a:t>
            </a:r>
          </a:p>
        </p:txBody>
      </p:sp>
      <p:pic>
        <p:nvPicPr>
          <p:cNvPr id="6" name="內容版面配置區 5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id="{14184AA8-1B34-2AC2-F954-5310FD019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44"/>
          <a:stretch/>
        </p:blipFill>
        <p:spPr>
          <a:xfrm>
            <a:off x="2149791" y="1549936"/>
            <a:ext cx="7892418" cy="517154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F0CDE2-1FCD-74B0-9933-BA077328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4BFCD0B-B005-EE78-15C8-F805889AD0B3}"/>
              </a:ext>
            </a:extLst>
          </p:cNvPr>
          <p:cNvSpPr txBox="1"/>
          <p:nvPr/>
        </p:nvSpPr>
        <p:spPr>
          <a:xfrm rot="16200000">
            <a:off x="1236332" y="202397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</a:rPr>
              <a:t>網格點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276D1D-A1EE-32C4-4D3A-42AC4E770F92}"/>
              </a:ext>
            </a:extLst>
          </p:cNvPr>
          <p:cNvSpPr txBox="1"/>
          <p:nvPr/>
        </p:nvSpPr>
        <p:spPr>
          <a:xfrm>
            <a:off x="2567608" y="108827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</a:rPr>
              <a:t>經度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49D16D-12AB-4D54-D65D-038CCB55669B}"/>
              </a:ext>
            </a:extLst>
          </p:cNvPr>
          <p:cNvSpPr txBox="1"/>
          <p:nvPr/>
        </p:nvSpPr>
        <p:spPr>
          <a:xfrm>
            <a:off x="3477330" y="106706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</a:rPr>
              <a:t>緯度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0FF76E-864B-6B00-A128-B62140F2FB23}"/>
              </a:ext>
            </a:extLst>
          </p:cNvPr>
          <p:cNvCxnSpPr>
            <a:stCxn id="7" idx="1"/>
          </p:cNvCxnSpPr>
          <p:nvPr/>
        </p:nvCxnSpPr>
        <p:spPr>
          <a:xfrm flipH="1">
            <a:off x="1775520" y="2808804"/>
            <a:ext cx="14811" cy="3788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331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15DE17-C651-3053-A676-5342E575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F5695-61C0-421F-8D81-2C672CA3459A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C2BB2549-9BC7-7B29-77F0-2725698B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敬請指教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4EFD97D-2DDA-3BE2-72E2-67CA1037E5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809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20230921_v2_TCCIP樣式_16比9</Template>
  <TotalTime>2701</TotalTime>
  <Words>815</Words>
  <Application>Microsoft Office PowerPoint</Application>
  <PresentationFormat>寬螢幕</PresentationFormat>
  <Paragraphs>126</Paragraphs>
  <Slides>24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微軟正黑體</vt:lpstr>
      <vt:lpstr>Arial</vt:lpstr>
      <vt:lpstr>Calibri</vt:lpstr>
      <vt:lpstr>Wingdings</vt:lpstr>
      <vt:lpstr>Office 佈景主題</vt:lpstr>
      <vt:lpstr>TCCIP AR6 1km  統計降尺度日資料 雲端下載工具 說明</vt:lpstr>
      <vt:lpstr>大綱</vt:lpstr>
      <vt:lpstr>工具下載</vt:lpstr>
      <vt:lpstr>TCCIP AR6 1km  統計降尺度日資料 雲端下載工具</vt:lpstr>
      <vt:lpstr>一、工具內容</vt:lpstr>
      <vt:lpstr>二、執行</vt:lpstr>
      <vt:lpstr>三、工具選單</vt:lpstr>
      <vt:lpstr>四、執行狀態</vt:lpstr>
      <vt:lpstr>五、下載檔案位置</vt:lpstr>
      <vt:lpstr>六、檔案格式</vt:lpstr>
      <vt:lpstr>七、縣市鄉鎮區1km網格資料 grids.csv 下載</vt:lpstr>
      <vt:lpstr>八、下載中斷時的接續方式(以GWL版本為例)</vt:lpstr>
      <vt:lpstr>九、注意事項</vt:lpstr>
      <vt:lpstr>TCCIP 1km 網格產生器</vt:lpstr>
      <vt:lpstr>目的</vt:lpstr>
      <vt:lpstr>嘉義落花生圖層範例</vt:lpstr>
      <vt:lpstr>一、工具內容</vt:lpstr>
      <vt:lpstr>二、執行步驟(1/4)</vt:lpstr>
      <vt:lpstr>二、執行步驟(2/4)</vt:lpstr>
      <vt:lpstr>二、執行步驟(3/4)</vt:lpstr>
      <vt:lpstr>二、執行步驟(4/4)</vt:lpstr>
      <vt:lpstr>三、產生的網格檔案</vt:lpstr>
      <vt:lpstr>四、grids.csv格式</vt:lpstr>
      <vt:lpstr>敬請指教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Ted Liu</cp:lastModifiedBy>
  <cp:revision>45</cp:revision>
  <cp:lastPrinted>2023-09-19T08:50:58Z</cp:lastPrinted>
  <dcterms:created xsi:type="dcterms:W3CDTF">2015-09-03T02:18:25Z</dcterms:created>
  <dcterms:modified xsi:type="dcterms:W3CDTF">2025-07-01T01:31:29Z</dcterms:modified>
</cp:coreProperties>
</file>